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60" r:id="rId4"/>
  </p:sldMasterIdLst>
  <p:notesMasterIdLst>
    <p:notesMasterId r:id="rId8"/>
  </p:notesMasterIdLst>
  <p:handoutMasterIdLst>
    <p:handoutMasterId r:id="rId9"/>
  </p:handoutMasterIdLst>
  <p:sldIdLst>
    <p:sldId id="2147471371" r:id="rId5"/>
    <p:sldId id="2147471372" r:id="rId6"/>
    <p:sldId id="2147471373" r:id="rId7"/>
  </p:sldIdLst>
  <p:sldSz cx="9906000" cy="6858000" type="A4"/>
  <p:notesSz cx="6735763" cy="9866313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120">
          <p15:clr>
            <a:srgbClr val="A4A3A4"/>
          </p15:clr>
        </p15:guide>
        <p15:guide id="3" orient="horz" pos="1207" userDrawn="1">
          <p15:clr>
            <a:srgbClr val="A4A3A4"/>
          </p15:clr>
        </p15:guide>
        <p15:guide id="4" orient="horz" pos="663" userDrawn="1">
          <p15:clr>
            <a:srgbClr val="A4A3A4"/>
          </p15:clr>
        </p15:guide>
        <p15:guide id="5" orient="horz" pos="754" userDrawn="1">
          <p15:clr>
            <a:srgbClr val="A4A3A4"/>
          </p15:clr>
        </p15:guide>
        <p15:guide id="10" pos="3438" userDrawn="1">
          <p15:clr>
            <a:srgbClr val="A4A3A4"/>
          </p15:clr>
        </p15:guide>
        <p15:guide id="11" pos="217" userDrawn="1">
          <p15:clr>
            <a:srgbClr val="A4A3A4"/>
          </p15:clr>
        </p15:guide>
        <p15:guide id="12" pos="6023" userDrawn="1">
          <p15:clr>
            <a:srgbClr val="A4A3A4"/>
          </p15:clr>
        </p15:guide>
        <p15:guide id="13" pos="852" userDrawn="1">
          <p15:clr>
            <a:srgbClr val="A4A3A4"/>
          </p15:clr>
        </p15:guide>
        <p15:guide id="14" orient="horz" pos="2341" userDrawn="1">
          <p15:clr>
            <a:srgbClr val="A4A3A4"/>
          </p15:clr>
        </p15:guide>
        <p15:guide id="15" orient="horz" pos="3521" userDrawn="1">
          <p15:clr>
            <a:srgbClr val="A4A3A4"/>
          </p15:clr>
        </p15:guide>
        <p15:guide id="16" orient="horz" pos="134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 userDrawn="1">
          <p15:clr>
            <a:srgbClr val="A4A3A4"/>
          </p15:clr>
        </p15:guide>
        <p15:guide id="2" pos="2105" userDrawn="1">
          <p15:clr>
            <a:srgbClr val="A4A3A4"/>
          </p15:clr>
        </p15:guide>
        <p15:guide id="3" orient="horz" pos="3124" userDrawn="1">
          <p15:clr>
            <a:srgbClr val="A4A3A4"/>
          </p15:clr>
        </p15:guide>
        <p15:guide id="4" pos="2122" userDrawn="1">
          <p15:clr>
            <a:srgbClr val="A4A3A4"/>
          </p15:clr>
        </p15:guide>
        <p15:guide id="5" orient="horz" pos="3088" userDrawn="1">
          <p15:clr>
            <a:srgbClr val="A4A3A4"/>
          </p15:clr>
        </p15:guide>
        <p15:guide id="6" orient="horz" pos="311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CC"/>
    <a:srgbClr val="008000"/>
    <a:srgbClr val="6699FF"/>
    <a:srgbClr val="9999FF"/>
    <a:srgbClr val="0066FF"/>
    <a:srgbClr val="D9D9D9"/>
    <a:srgbClr val="000099"/>
    <a:srgbClr val="CCCC00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83BB0C-6CD4-4E11-BEBB-BC31293BE2D2}" v="1" dt="2026-04-17T07:48:38.6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1512" y="96"/>
      </p:cViewPr>
      <p:guideLst>
        <p:guide pos="3120"/>
        <p:guide orient="horz" pos="1207"/>
        <p:guide orient="horz" pos="663"/>
        <p:guide orient="horz" pos="754"/>
        <p:guide pos="3438"/>
        <p:guide pos="217"/>
        <p:guide pos="6023"/>
        <p:guide pos="852"/>
        <p:guide orient="horz" pos="2341"/>
        <p:guide orient="horz" pos="3521"/>
        <p:guide orient="horz" pos="1344"/>
      </p:guideLst>
    </p:cSldViewPr>
  </p:slideViewPr>
  <p:notesTextViewPr>
    <p:cViewPr>
      <p:scale>
        <a:sx n="66" d="100"/>
        <a:sy n="66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650" y="942"/>
      </p:cViewPr>
      <p:guideLst>
        <p:guide orient="horz" pos="3108"/>
        <p:guide pos="2105"/>
        <p:guide orient="horz" pos="3124"/>
        <p:guide pos="2122"/>
        <p:guide orient="horz" pos="3088"/>
        <p:guide orient="horz" pos="311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임환희 매니저 DX추진랩" userId="b679c7d0-4697-40d7-9ffc-918486907790" providerId="ADAL" clId="{52E5F2F5-7E7B-451C-8592-49B77C9A9E15}"/>
    <pc:docChg chg="undo custSel addSld delSld modSld sldOrd modSection">
      <pc:chgData name="임환희 매니저 DX추진랩" userId="b679c7d0-4697-40d7-9ffc-918486907790" providerId="ADAL" clId="{52E5F2F5-7E7B-451C-8592-49B77C9A9E15}" dt="2026-04-17T07:51:35.404" v="1659" actId="47"/>
      <pc:docMkLst>
        <pc:docMk/>
      </pc:docMkLst>
      <pc:sldChg chg="addSp delSp modSp mod">
        <pc:chgData name="임환희 매니저 DX추진랩" userId="b679c7d0-4697-40d7-9ffc-918486907790" providerId="ADAL" clId="{52E5F2F5-7E7B-451C-8592-49B77C9A9E15}" dt="2026-04-17T07:48:54.025" v="1658" actId="6549"/>
        <pc:sldMkLst>
          <pc:docMk/>
          <pc:sldMk cId="1828301010" sldId="1904"/>
        </pc:sldMkLst>
        <pc:spChg chg="mod">
          <ac:chgData name="임환희 매니저 DX추진랩" userId="b679c7d0-4697-40d7-9ffc-918486907790" providerId="ADAL" clId="{52E5F2F5-7E7B-451C-8592-49B77C9A9E15}" dt="2026-04-17T07:48:23.307" v="1628" actId="20577"/>
          <ac:spMkLst>
            <pc:docMk/>
            <pc:sldMk cId="1828301010" sldId="1904"/>
            <ac:spMk id="2" creationId="{2C18BDAF-8898-E948-6726-F925DFEC9267}"/>
          </ac:spMkLst>
        </pc:spChg>
        <pc:spChg chg="mod">
          <ac:chgData name="임환희 매니저 DX추진랩" userId="b679c7d0-4697-40d7-9ffc-918486907790" providerId="ADAL" clId="{52E5F2F5-7E7B-451C-8592-49B77C9A9E15}" dt="2026-04-01T10:24:24.930" v="189" actId="1036"/>
          <ac:spMkLst>
            <pc:docMk/>
            <pc:sldMk cId="1828301010" sldId="1904"/>
            <ac:spMk id="3" creationId="{09F77F22-9DBC-A6A5-AC0D-39D525D2E8CF}"/>
          </ac:spMkLst>
        </pc:spChg>
        <pc:spChg chg="mod">
          <ac:chgData name="임환희 매니저 DX추진랩" userId="b679c7d0-4697-40d7-9ffc-918486907790" providerId="ADAL" clId="{52E5F2F5-7E7B-451C-8592-49B77C9A9E15}" dt="2026-04-01T10:24:24.930" v="189" actId="1036"/>
          <ac:spMkLst>
            <pc:docMk/>
            <pc:sldMk cId="1828301010" sldId="1904"/>
            <ac:spMk id="5" creationId="{042E8B47-2403-0B59-F7C7-B980BABBD608}"/>
          </ac:spMkLst>
        </pc:spChg>
        <pc:spChg chg="mod">
          <ac:chgData name="임환희 매니저 DX추진랩" userId="b679c7d0-4697-40d7-9ffc-918486907790" providerId="ADAL" clId="{52E5F2F5-7E7B-451C-8592-49B77C9A9E15}" dt="2026-04-01T10:30:53.986" v="548" actId="20577"/>
          <ac:spMkLst>
            <pc:docMk/>
            <pc:sldMk cId="1828301010" sldId="1904"/>
            <ac:spMk id="7" creationId="{F70495ED-794E-7C85-7C6B-8A88363C716B}"/>
          </ac:spMkLst>
        </pc:spChg>
        <pc:spChg chg="mod">
          <ac:chgData name="임환희 매니저 DX추진랩" userId="b679c7d0-4697-40d7-9ffc-918486907790" providerId="ADAL" clId="{52E5F2F5-7E7B-451C-8592-49B77C9A9E15}" dt="2026-04-01T10:30:55.622" v="549" actId="20577"/>
          <ac:spMkLst>
            <pc:docMk/>
            <pc:sldMk cId="1828301010" sldId="1904"/>
            <ac:spMk id="8" creationId="{010F0BBE-9562-2744-855C-D66D1887C079}"/>
          </ac:spMkLst>
        </pc:spChg>
        <pc:spChg chg="mod">
          <ac:chgData name="임환희 매니저 DX추진랩" userId="b679c7d0-4697-40d7-9ffc-918486907790" providerId="ADAL" clId="{52E5F2F5-7E7B-451C-8592-49B77C9A9E15}" dt="2026-04-01T10:23:28.859" v="106" actId="20577"/>
          <ac:spMkLst>
            <pc:docMk/>
            <pc:sldMk cId="1828301010" sldId="1904"/>
            <ac:spMk id="11" creationId="{3DD30F89-ABC2-ED59-2F48-6AD02B2BE088}"/>
          </ac:spMkLst>
        </pc:spChg>
        <pc:spChg chg="add mod">
          <ac:chgData name="임환희 매니저 DX추진랩" userId="b679c7d0-4697-40d7-9ffc-918486907790" providerId="ADAL" clId="{52E5F2F5-7E7B-451C-8592-49B77C9A9E15}" dt="2026-04-01T10:24:46.019" v="222" actId="20577"/>
          <ac:spMkLst>
            <pc:docMk/>
            <pc:sldMk cId="1828301010" sldId="1904"/>
            <ac:spMk id="14" creationId="{3B48044C-502B-5FA9-D45E-C7FA2863B09C}"/>
          </ac:spMkLst>
        </pc:spChg>
        <pc:spChg chg="mod">
          <ac:chgData name="임환희 매니저 DX추진랩" userId="b679c7d0-4697-40d7-9ffc-918486907790" providerId="ADAL" clId="{52E5F2F5-7E7B-451C-8592-49B77C9A9E15}" dt="2026-04-01T10:23:53.049" v="160" actId="20577"/>
          <ac:spMkLst>
            <pc:docMk/>
            <pc:sldMk cId="1828301010" sldId="1904"/>
            <ac:spMk id="15" creationId="{79D8D31C-BB70-1D75-07F1-BC12F79CF53F}"/>
          </ac:spMkLst>
        </pc:spChg>
        <pc:spChg chg="add del mod">
          <ac:chgData name="임환희 매니저 DX추진랩" userId="b679c7d0-4697-40d7-9ffc-918486907790" providerId="ADAL" clId="{52E5F2F5-7E7B-451C-8592-49B77C9A9E15}" dt="2026-04-01T10:25:11.234" v="227" actId="6549"/>
          <ac:spMkLst>
            <pc:docMk/>
            <pc:sldMk cId="1828301010" sldId="1904"/>
            <ac:spMk id="17" creationId="{982695F4-763F-437A-139F-00EC0C7C82E5}"/>
          </ac:spMkLst>
        </pc:spChg>
        <pc:spChg chg="mod">
          <ac:chgData name="임환희 매니저 DX추진랩" userId="b679c7d0-4697-40d7-9ffc-918486907790" providerId="ADAL" clId="{52E5F2F5-7E7B-451C-8592-49B77C9A9E15}" dt="2026-04-01T10:24:28.244" v="203" actId="1036"/>
          <ac:spMkLst>
            <pc:docMk/>
            <pc:sldMk cId="1828301010" sldId="1904"/>
            <ac:spMk id="19" creationId="{5DF8C0BB-7E27-8539-CEB6-628B426ECBA2}"/>
          </ac:spMkLst>
        </pc:spChg>
        <pc:spChg chg="add mod">
          <ac:chgData name="임환희 매니저 DX추진랩" userId="b679c7d0-4697-40d7-9ffc-918486907790" providerId="ADAL" clId="{52E5F2F5-7E7B-451C-8592-49B77C9A9E15}" dt="2026-04-01T10:24:56.380" v="223"/>
          <ac:spMkLst>
            <pc:docMk/>
            <pc:sldMk cId="1828301010" sldId="1904"/>
            <ac:spMk id="20" creationId="{38614960-844C-B6AD-4850-7D4BD231FE00}"/>
          </ac:spMkLst>
        </pc:spChg>
        <pc:spChg chg="mod">
          <ac:chgData name="임환희 매니저 DX추진랩" userId="b679c7d0-4697-40d7-9ffc-918486907790" providerId="ADAL" clId="{52E5F2F5-7E7B-451C-8592-49B77C9A9E15}" dt="2026-04-01T10:24:28.244" v="203" actId="1036"/>
          <ac:spMkLst>
            <pc:docMk/>
            <pc:sldMk cId="1828301010" sldId="1904"/>
            <ac:spMk id="21" creationId="{04BDF28E-119B-2476-7AA1-87BD79C823FD}"/>
          </ac:spMkLst>
        </pc:spChg>
        <pc:spChg chg="add mod">
          <ac:chgData name="임환희 매니저 DX추진랩" userId="b679c7d0-4697-40d7-9ffc-918486907790" providerId="ADAL" clId="{52E5F2F5-7E7B-451C-8592-49B77C9A9E15}" dt="2026-04-01T10:25:38.315" v="250" actId="20577"/>
          <ac:spMkLst>
            <pc:docMk/>
            <pc:sldMk cId="1828301010" sldId="1904"/>
            <ac:spMk id="23" creationId="{0427ADEE-33B4-E303-0639-5A115BBDD77C}"/>
          </ac:spMkLst>
        </pc:spChg>
        <pc:spChg chg="add mod">
          <ac:chgData name="임환희 매니저 DX추진랩" userId="b679c7d0-4697-40d7-9ffc-918486907790" providerId="ADAL" clId="{52E5F2F5-7E7B-451C-8592-49B77C9A9E15}" dt="2026-04-17T07:48:45.974" v="1655" actId="6549"/>
          <ac:spMkLst>
            <pc:docMk/>
            <pc:sldMk cId="1828301010" sldId="1904"/>
            <ac:spMk id="25" creationId="{437E4B40-FA1B-1D1D-48FF-F72F881DF4D6}"/>
          </ac:spMkLst>
        </pc:spChg>
        <pc:spChg chg="mod">
          <ac:chgData name="임환희 매니저 DX추진랩" userId="b679c7d0-4697-40d7-9ffc-918486907790" providerId="ADAL" clId="{52E5F2F5-7E7B-451C-8592-49B77C9A9E15}" dt="2026-04-01T10:25:12.980" v="228" actId="6549"/>
          <ac:spMkLst>
            <pc:docMk/>
            <pc:sldMk cId="1828301010" sldId="1904"/>
            <ac:spMk id="26" creationId="{4B115BAB-987C-AD1C-8DC9-A693D1F8CB8E}"/>
          </ac:spMkLst>
        </pc:spChg>
        <pc:spChg chg="add mod">
          <ac:chgData name="임환희 매니저 DX추진랩" userId="b679c7d0-4697-40d7-9ffc-918486907790" providerId="ADAL" clId="{52E5F2F5-7E7B-451C-8592-49B77C9A9E15}" dt="2026-04-17T07:48:54.025" v="1658" actId="6549"/>
          <ac:spMkLst>
            <pc:docMk/>
            <pc:sldMk cId="1828301010" sldId="1904"/>
            <ac:spMk id="28" creationId="{888968DF-A8CF-C449-44B6-1A807FDD7B9C}"/>
          </ac:spMkLst>
        </pc:spChg>
        <pc:spChg chg="add mod">
          <ac:chgData name="임환희 매니저 DX추진랩" userId="b679c7d0-4697-40d7-9ffc-918486907790" providerId="ADAL" clId="{52E5F2F5-7E7B-451C-8592-49B77C9A9E15}" dt="2026-04-02T01:51:50.105" v="1405" actId="20577"/>
          <ac:spMkLst>
            <pc:docMk/>
            <pc:sldMk cId="1828301010" sldId="1904"/>
            <ac:spMk id="30" creationId="{BC87B287-B432-5926-E9C4-93ACED35FCB4}"/>
          </ac:spMkLst>
        </pc:spChg>
        <pc:grpChg chg="mod">
          <ac:chgData name="임환희 매니저 DX추진랩" userId="b679c7d0-4697-40d7-9ffc-918486907790" providerId="ADAL" clId="{52E5F2F5-7E7B-451C-8592-49B77C9A9E15}" dt="2026-04-01T10:24:24.930" v="189" actId="1036"/>
          <ac:grpSpMkLst>
            <pc:docMk/>
            <pc:sldMk cId="1828301010" sldId="1904"/>
            <ac:grpSpMk id="9" creationId="{233E1F6D-172A-5383-190F-1A1B2174B17C}"/>
          </ac:grpSpMkLst>
        </pc:grpChg>
        <pc:grpChg chg="mod">
          <ac:chgData name="임환희 매니저 DX추진랩" userId="b679c7d0-4697-40d7-9ffc-918486907790" providerId="ADAL" clId="{52E5F2F5-7E7B-451C-8592-49B77C9A9E15}" dt="2026-04-01T10:24:24.930" v="189" actId="1036"/>
          <ac:grpSpMkLst>
            <pc:docMk/>
            <pc:sldMk cId="1828301010" sldId="1904"/>
            <ac:grpSpMk id="12" creationId="{DB9275D0-C939-56A1-C3DD-2E7589DD9D6E}"/>
          </ac:grpSpMkLst>
        </pc:grpChg>
        <pc:graphicFrameChg chg="modGraphic">
          <ac:chgData name="임환희 매니저 DX추진랩" userId="b679c7d0-4697-40d7-9ffc-918486907790" providerId="ADAL" clId="{52E5F2F5-7E7B-451C-8592-49B77C9A9E15}" dt="2026-04-17T07:48:32.970" v="1652" actId="20577"/>
          <ac:graphicFrameMkLst>
            <pc:docMk/>
            <pc:sldMk cId="1828301010" sldId="1904"/>
            <ac:graphicFrameMk id="33" creationId="{91F48347-7011-E9C7-C5A6-1672E2696B0E}"/>
          </ac:graphicFrameMkLst>
        </pc:graphicFrameChg>
      </pc:sldChg>
      <pc:sldChg chg="addSp delSp modSp add del mod ord">
        <pc:chgData name="임환희 매니저 DX추진랩" userId="b679c7d0-4697-40d7-9ffc-918486907790" providerId="ADAL" clId="{52E5F2F5-7E7B-451C-8592-49B77C9A9E15}" dt="2026-04-17T07:51:35.404" v="1659" actId="47"/>
        <pc:sldMkLst>
          <pc:docMk/>
          <pc:sldMk cId="1847911593" sldId="1905"/>
        </pc:sldMkLst>
        <pc:graphicFrameChg chg="add mod">
          <ac:chgData name="임환희 매니저 DX추진랩" userId="b679c7d0-4697-40d7-9ffc-918486907790" providerId="ADAL" clId="{52E5F2F5-7E7B-451C-8592-49B77C9A9E15}" dt="2026-04-17T07:48:38.626" v="1654"/>
          <ac:graphicFrameMkLst>
            <pc:docMk/>
            <pc:sldMk cId="1847911593" sldId="1905"/>
            <ac:graphicFrameMk id="9" creationId="{22931B6D-24AF-336C-5162-C10394CD29C7}"/>
          </ac:graphicFrameMkLst>
        </pc:graphicFrameChg>
        <pc:graphicFrameChg chg="add del mod">
          <ac:chgData name="임환희 매니저 DX추진랩" userId="b679c7d0-4697-40d7-9ffc-918486907790" providerId="ADAL" clId="{52E5F2F5-7E7B-451C-8592-49B77C9A9E15}" dt="2026-04-17T07:48:37.583" v="1653" actId="478"/>
          <ac:graphicFrameMkLst>
            <pc:docMk/>
            <pc:sldMk cId="1847911593" sldId="1905"/>
            <ac:graphicFrameMk id="10" creationId="{D99B690E-9A91-6473-BA71-747A4ADED630}"/>
          </ac:graphicFrameMkLst>
        </pc:graphicFrameChg>
      </pc:sldChg>
      <pc:sldChg chg="delSp modSp add del mod">
        <pc:chgData name="임환희 매니저 DX추진랩" userId="b679c7d0-4697-40d7-9ffc-918486907790" providerId="ADAL" clId="{52E5F2F5-7E7B-451C-8592-49B77C9A9E15}" dt="2026-04-01T10:38:43.040" v="766" actId="47"/>
        <pc:sldMkLst>
          <pc:docMk/>
          <pc:sldMk cId="3209709772" sldId="190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9" y="10"/>
            <a:ext cx="2919149" cy="494823"/>
          </a:xfrm>
          <a:prstGeom prst="rect">
            <a:avLst/>
          </a:prstGeom>
        </p:spPr>
        <p:txBody>
          <a:bodyPr vert="horz" lIns="91621" tIns="45811" rIns="91621" bIns="45811" rtlCol="0"/>
          <a:lstStyle>
            <a:lvl1pPr algn="l" eaLnBrk="1" latinLnBrk="1" hangingPunct="1">
              <a:defRPr sz="120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5031" y="10"/>
            <a:ext cx="2919149" cy="494823"/>
          </a:xfrm>
          <a:prstGeom prst="rect">
            <a:avLst/>
          </a:prstGeom>
        </p:spPr>
        <p:txBody>
          <a:bodyPr vert="horz" lIns="91621" tIns="45811" rIns="91621" bIns="45811" rtlCol="0"/>
          <a:lstStyle>
            <a:lvl1pPr algn="r" eaLnBrk="1" latinLnBrk="1" hangingPunct="1">
              <a:defRPr sz="120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DF721D23-0136-4E61-88F9-F30DB97C1EDC}" type="datetimeFigureOut"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pPr>
                <a:defRPr/>
              </a:pPr>
              <a:t>2026-07-03</a:t>
            </a:fld>
            <a:endParaRPr lang="ko-KR" altLang="en-US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9" y="9371495"/>
            <a:ext cx="2919149" cy="494823"/>
          </a:xfrm>
          <a:prstGeom prst="rect">
            <a:avLst/>
          </a:prstGeom>
        </p:spPr>
        <p:txBody>
          <a:bodyPr vert="horz" lIns="91621" tIns="45811" rIns="91621" bIns="45811" rtlCol="0" anchor="b"/>
          <a:lstStyle>
            <a:lvl1pPr algn="l" eaLnBrk="1" latinLnBrk="1" hangingPunct="1">
              <a:defRPr sz="1200">
                <a:latin typeface="굴림" panose="020B0600000101010101" pitchFamily="50" charset="-127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ko-KR" altLang="en-US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5031" y="9371495"/>
            <a:ext cx="2919149" cy="494823"/>
          </a:xfrm>
          <a:prstGeom prst="rect">
            <a:avLst/>
          </a:prstGeom>
        </p:spPr>
        <p:txBody>
          <a:bodyPr vert="horz" wrap="square" lIns="91621" tIns="45811" rIns="91621" bIns="45811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smtClean="0"/>
            </a:lvl1pPr>
          </a:lstStyle>
          <a:p>
            <a:pPr>
              <a:defRPr/>
            </a:pPr>
            <a:fld id="{11360A69-3964-4C66-8A35-D0CF326688A8}" type="slidenum">
              <a:rPr lang="ko-KR" altLang="en-US">
                <a:latin typeface="현대하모니 M" panose="02020603020101020101" pitchFamily="18" charset="-127"/>
                <a:ea typeface="현대하모니 M" panose="02020603020101020101" pitchFamily="18" charset="-127"/>
              </a:rPr>
              <a:pPr>
                <a:defRPr/>
              </a:pPr>
              <a:t>‹#›</a:t>
            </a:fld>
            <a:endParaRPr lang="ko-KR" altLang="en-US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1974116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9" y="6"/>
            <a:ext cx="2919149" cy="493237"/>
          </a:xfrm>
          <a:prstGeom prst="rect">
            <a:avLst/>
          </a:prstGeom>
        </p:spPr>
        <p:txBody>
          <a:bodyPr vert="horz" lIns="72854" tIns="36427" rIns="72854" bIns="36427" rtlCol="0"/>
          <a:lstStyle>
            <a:lvl1pPr algn="l" eaLnBrk="1" latinLnBrk="1" hangingPunct="1">
              <a:defRPr sz="1000"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6628" y="6"/>
            <a:ext cx="2917562" cy="493237"/>
          </a:xfrm>
          <a:prstGeom prst="rect">
            <a:avLst/>
          </a:prstGeom>
        </p:spPr>
        <p:txBody>
          <a:bodyPr vert="horz" lIns="72854" tIns="36427" rIns="72854" bIns="36427" rtlCol="0"/>
          <a:lstStyle>
            <a:lvl1pPr algn="r" eaLnBrk="1" latinLnBrk="1" hangingPunct="1">
              <a:defRPr sz="1000"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>
              <a:defRPr/>
            </a:pPr>
            <a:fld id="{01008D01-5BD2-4D21-AC26-B3A95C74F238}" type="datetimeFigureOut">
              <a:rPr lang="ko-KR" altLang="en-US" smtClean="0"/>
              <a:pPr>
                <a:defRPr/>
              </a:pPr>
              <a:t>2026-07-03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92150" y="733425"/>
            <a:ext cx="5351463" cy="37052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72854" tIns="36427" rIns="72854" bIns="36427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907" y="4686547"/>
            <a:ext cx="5387977" cy="4439126"/>
          </a:xfrm>
          <a:prstGeom prst="rect">
            <a:avLst/>
          </a:prstGeom>
        </p:spPr>
        <p:txBody>
          <a:bodyPr vert="horz" lIns="72854" tIns="36427" rIns="72854" bIns="36427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9" y="9371501"/>
            <a:ext cx="2919149" cy="493236"/>
          </a:xfrm>
          <a:prstGeom prst="rect">
            <a:avLst/>
          </a:prstGeom>
        </p:spPr>
        <p:txBody>
          <a:bodyPr vert="horz" lIns="72854" tIns="36427" rIns="72854" bIns="36427" rtlCol="0" anchor="b"/>
          <a:lstStyle>
            <a:lvl1pPr algn="l" eaLnBrk="1" latinLnBrk="1" hangingPunct="1">
              <a:defRPr sz="1000"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6628" y="9371501"/>
            <a:ext cx="2917562" cy="493236"/>
          </a:xfrm>
          <a:prstGeom prst="rect">
            <a:avLst/>
          </a:prstGeom>
        </p:spPr>
        <p:txBody>
          <a:bodyPr vert="horz" wrap="square" lIns="72854" tIns="36427" rIns="72854" bIns="36427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000" smtClean="0">
                <a:latin typeface="현대하모니 M" panose="02020603020101020101" pitchFamily="18" charset="-127"/>
                <a:ea typeface="현대하모니 M" panose="02020603020101020101" pitchFamily="18" charset="-127"/>
              </a:defRPr>
            </a:lvl1pPr>
          </a:lstStyle>
          <a:p>
            <a:pPr>
              <a:defRPr/>
            </a:pPr>
            <a:fld id="{1CF51D68-D0D5-430C-8409-8CC2E246B6CB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177204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/>
          <p:cNvSpPr>
            <a:spLocks noGrp="1"/>
          </p:cNvSpPr>
          <p:nvPr>
            <p:ph type="title"/>
          </p:nvPr>
        </p:nvSpPr>
        <p:spPr>
          <a:xfrm>
            <a:off x="724748" y="201159"/>
            <a:ext cx="7091053" cy="5832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algn="l" defTabSz="685388" rtl="0" eaLnBrk="1" latinLnBrk="1" hangingPunct="1">
              <a:defRPr lang="ko-KR" altLang="en-US" sz="2000" kern="12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10800000" scaled="1"/>
                </a:gradFill>
                <a:latin typeface="현대하모니 M" panose="02020603020101020101" pitchFamily="18" charset="-127"/>
                <a:ea typeface="현대하모니 M" panose="02020603020101020101" pitchFamily="18" charset="-127"/>
                <a:cs typeface="+mn-cs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994776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/>
        </p:nvCxnSpPr>
        <p:spPr>
          <a:xfrm>
            <a:off x="0" y="706982"/>
            <a:ext cx="9777536" cy="0"/>
          </a:xfrm>
          <a:prstGeom prst="line">
            <a:avLst/>
          </a:prstGeom>
          <a:ln w="19050">
            <a:solidFill>
              <a:srgbClr val="AFAFA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7547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92" r:id="rId1"/>
  </p:sldLayoutIdLst>
  <p:hf hdr="0" ftr="0" dt="0"/>
  <p:txStyles>
    <p:titleStyle>
      <a:lvl1pPr algn="ctr" defTabSz="912813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912813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algn="ctr" defTabSz="912813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algn="ctr" defTabSz="912813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algn="ctr" defTabSz="912813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5pPr>
      <a:lvl6pPr marL="457200" algn="ctr" defTabSz="912813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6pPr>
      <a:lvl7pPr marL="914400" algn="ctr" defTabSz="912813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7pPr>
      <a:lvl8pPr marL="1371600" algn="ctr" defTabSz="912813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8pPr>
      <a:lvl9pPr marL="1828800" algn="ctr" defTabSz="912813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9pPr>
    </p:titleStyle>
    <p:bodyStyle>
      <a:lvl1pPr marL="341313" indent="-341313" algn="l" defTabSz="912813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defTabSz="912813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413" indent="-227013" algn="l" defTabSz="912813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1598613" indent="-227013" algn="l" defTabSz="912813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813" indent="-227013" algn="l" defTabSz="912813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129" indent="-228556" algn="l" defTabSz="914229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244" indent="-228556" algn="l" defTabSz="914229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57" indent="-228556" algn="l" defTabSz="914229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473" indent="-228556" algn="l" defTabSz="914229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229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15" algn="l" defTabSz="914229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29" algn="l" defTabSz="914229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43" algn="l" defTabSz="914229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57" algn="l" defTabSz="914229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71" algn="l" defTabSz="914229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86" algn="l" defTabSz="914229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801" algn="l" defTabSz="914229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14" algn="l" defTabSz="914229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45ADB-CC88-8493-7571-78F93CB1E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18BDAF-8898-E948-6726-F925DFEC9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488" y="201159"/>
            <a:ext cx="7091053" cy="583200"/>
          </a:xfrm>
        </p:spPr>
        <p:txBody>
          <a:bodyPr/>
          <a:lstStyle/>
          <a:p>
            <a:pPr marL="360363" lvl="1" indent="-360363" algn="l" defTabSz="957263"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</a:rPr>
              <a:t>■ </a:t>
            </a:r>
            <a:r>
              <a:rPr lang="ko-KR" altLang="en-US" sz="1400" kern="1200" dirty="0"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협력사 </a:t>
            </a:r>
            <a:r>
              <a:rPr lang="ko-KR" altLang="en-US" sz="1400" kern="1200" dirty="0" err="1"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견적가</a:t>
            </a:r>
            <a:r>
              <a:rPr lang="ko-KR" altLang="en-US" sz="1400" kern="1200" dirty="0"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적정성 분석 시스템 구축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9F77F22-9DBC-A6A5-AC0D-39D525D2E8CF}"/>
              </a:ext>
            </a:extLst>
          </p:cNvPr>
          <p:cNvSpPr/>
          <p:nvPr/>
        </p:nvSpPr>
        <p:spPr bwMode="auto">
          <a:xfrm>
            <a:off x="1132531" y="2605202"/>
            <a:ext cx="8446543" cy="3133049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72000" tIns="72000" rIns="72000" bIns="72000"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BAFEE36F-A896-2051-4F8A-260E656A9E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288" y="1119749"/>
            <a:ext cx="757836" cy="28045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anchor="ctr"/>
          <a:lstStyle/>
          <a:p>
            <a:pPr marL="0" marR="0" lvl="0" indent="0" algn="ctr" defTabSz="957263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</a:rPr>
              <a:t>목표</a:t>
            </a:r>
            <a:endParaRPr kumimoji="0" lang="en-US" altLang="ko-KR" sz="1000" b="0" i="0" u="none" strike="noStrike" kern="1200" cap="none" spc="0" normalizeH="0" baseline="0" noProof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042E8B47-2403-0B59-F7C7-B980BABBD6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245" y="2605203"/>
            <a:ext cx="757836" cy="313304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anchor="ctr"/>
          <a:lstStyle/>
          <a:p>
            <a:pPr marL="0" marR="0" lvl="0" indent="0" algn="ctr" defTabSz="957263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</a:rPr>
              <a:t>과제 </a:t>
            </a:r>
            <a:br>
              <a:rPr kumimoji="0" lang="en-US" altLang="ko-KR" sz="1000" b="0" i="0" u="none" strike="noStrike" kern="1200" cap="none" spc="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</a:rPr>
            </a:br>
            <a:r>
              <a:rPr kumimoji="0" lang="ko-KR" altLang="en-US" sz="1000" b="0" i="0" u="none" strike="noStrike" kern="1200" cap="none" spc="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</a:rPr>
              <a:t>중요도</a:t>
            </a:r>
            <a:br>
              <a:rPr kumimoji="0" lang="en-US" altLang="ko-KR" sz="1000" b="0" i="0" u="none" strike="noStrike" kern="1200" cap="none" spc="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</a:rPr>
            </a:br>
            <a:r>
              <a:rPr kumimoji="0" lang="en-US" altLang="ko-KR" sz="1000" b="0" i="0" u="none" strike="noStrike" kern="1200" cap="none" spc="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</a:rPr>
              <a:t>&amp;</a:t>
            </a:r>
          </a:p>
          <a:p>
            <a:pPr marL="0" marR="0" lvl="0" indent="0" algn="ctr" defTabSz="957263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추진 근거</a:t>
            </a:r>
            <a:endParaRPr kumimoji="1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4E3BE416-665E-C44C-ADC9-C341FE69C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245" y="767603"/>
            <a:ext cx="757836" cy="30832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anchor="ctr"/>
          <a:lstStyle/>
          <a:p>
            <a:pPr marL="0" marR="0" lvl="0" indent="0" algn="ctr" defTabSz="957263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</a:rPr>
              <a:t>배경</a:t>
            </a:r>
            <a:endParaRPr kumimoji="0" lang="en-US" altLang="ko-KR" sz="1000" b="0" i="0" u="none" strike="noStrike" kern="1200" cap="none" spc="0" normalizeH="0" baseline="0" noProof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70495ED-794E-7C85-7C6B-8A88363C716B}"/>
              </a:ext>
            </a:extLst>
          </p:cNvPr>
          <p:cNvSpPr/>
          <p:nvPr/>
        </p:nvSpPr>
        <p:spPr bwMode="auto">
          <a:xfrm>
            <a:off x="1136575" y="767603"/>
            <a:ext cx="8446543" cy="308329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44000" tIns="72000" rIns="72000" bIns="72000" rtlCol="0" anchor="ctr"/>
          <a:lstStyle/>
          <a:p>
            <a:pPr marL="171450" lvl="0" indent="-171450" eaLnBrk="1" fontAlgn="auto" latinLnBrk="1" hangingPunct="1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ko-KR" altLang="en-US" sz="10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수작업 기반 협력사 </a:t>
            </a:r>
            <a:r>
              <a:rPr lang="ko-KR" altLang="en-US" sz="10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견적가</a:t>
            </a:r>
            <a:r>
              <a:rPr lang="ko-KR" altLang="en-US" sz="10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검토 적정성 판단 어려움 발생에 따른 표준 단가 </a:t>
            </a:r>
            <a:r>
              <a:rPr lang="en-US" altLang="ko-KR" sz="10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DB </a:t>
            </a:r>
            <a:r>
              <a:rPr lang="ko-KR" altLang="en-US" sz="10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기반 체계적인 협력사 </a:t>
            </a:r>
            <a:r>
              <a:rPr lang="ko-KR" altLang="en-US" sz="10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견적사</a:t>
            </a:r>
            <a:r>
              <a:rPr lang="ko-KR" altLang="en-US" sz="10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분석 업무 필요</a:t>
            </a:r>
            <a:endParaRPr lang="en-US" altLang="ko-KR" sz="10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10F0BBE-9562-2744-855C-D66D1887C079}"/>
              </a:ext>
            </a:extLst>
          </p:cNvPr>
          <p:cNvSpPr/>
          <p:nvPr/>
        </p:nvSpPr>
        <p:spPr bwMode="auto">
          <a:xfrm>
            <a:off x="1136575" y="1119749"/>
            <a:ext cx="8446543" cy="280454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44000" tIns="72000" rIns="72000" bIns="72000" rtlCol="0" anchor="ctr"/>
          <a:lstStyle/>
          <a:p>
            <a:pPr marL="171450" lvl="0" indent="-171450" eaLnBrk="1" fontAlgn="auto" latinLnBrk="1" hangingPunct="1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ko-KR" altLang="en-US" sz="10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견적서에 포함된 품목을 분석하여 동일</a:t>
            </a:r>
            <a:r>
              <a:rPr lang="en-US" altLang="ko-KR" sz="10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/</a:t>
            </a:r>
            <a:r>
              <a:rPr lang="ko-KR" altLang="en-US" sz="10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유사 품목 표준단가 추천</a:t>
            </a:r>
            <a:r>
              <a:rPr lang="en-US" altLang="ko-KR" sz="10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</a:t>
            </a:r>
            <a:r>
              <a:rPr lang="ko-KR" altLang="en-US" sz="10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할인율 적용</a:t>
            </a:r>
            <a:r>
              <a:rPr lang="en-US" altLang="ko-KR" sz="10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10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외부 </a:t>
            </a:r>
            <a:r>
              <a:rPr lang="ko-KR" altLang="en-US" sz="10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시장가</a:t>
            </a:r>
            <a:r>
              <a:rPr lang="ko-KR" altLang="en-US" sz="10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ko-KR" altLang="en-US" sz="10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검색등</a:t>
            </a:r>
            <a:r>
              <a:rPr lang="ko-KR" altLang="en-US" sz="10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다양한 방업으로 </a:t>
            </a:r>
            <a:r>
              <a:rPr lang="ko-KR" altLang="en-US" sz="10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견적가</a:t>
            </a:r>
            <a:r>
              <a:rPr lang="ko-KR" altLang="en-US" sz="10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비교</a:t>
            </a:r>
            <a:r>
              <a:rPr lang="en-US" altLang="ko-KR" sz="10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/</a:t>
            </a:r>
            <a:r>
              <a:rPr lang="ko-KR" altLang="en-US" sz="10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분석 수행</a:t>
            </a:r>
            <a:endParaRPr lang="en-US" altLang="ko-KR" sz="10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33E1F6D-172A-5383-190F-1A1B2174B17C}"/>
              </a:ext>
            </a:extLst>
          </p:cNvPr>
          <p:cNvGrpSpPr/>
          <p:nvPr/>
        </p:nvGrpSpPr>
        <p:grpSpPr>
          <a:xfrm>
            <a:off x="1294088" y="2656005"/>
            <a:ext cx="3948334" cy="2697560"/>
            <a:chOff x="8470750" y="3551517"/>
            <a:chExt cx="2746946" cy="2664296"/>
          </a:xfrm>
        </p:grpSpPr>
        <p:sp>
          <p:nvSpPr>
            <p:cNvPr id="10" name="Rectangle 12">
              <a:extLst>
                <a:ext uri="{FF2B5EF4-FFF2-40B4-BE49-F238E27FC236}">
                  <a16:creationId xmlns:a16="http://schemas.microsoft.com/office/drawing/2014/main" id="{F383CF1A-E01B-4C7E-0963-A8D7BB8E3D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81392" y="3551517"/>
              <a:ext cx="2736304" cy="2664296"/>
            </a:xfrm>
            <a:prstGeom prst="rect">
              <a:avLst/>
            </a:prstGeom>
            <a:solidFill>
              <a:schemeClr val="bg1"/>
            </a:solidFill>
            <a:ln w="25400" algn="ctr">
              <a:solidFill>
                <a:schemeClr val="accent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none" lIns="143979" tIns="144000" rIns="71990" bIns="71990"/>
            <a:lstStyle/>
            <a:p>
              <a:pPr marL="0" marR="0" lvl="0" indent="0" algn="l" defTabSz="981075" rtl="0" eaLnBrk="0" fontAlgn="auto" latinLnBrk="1" hangingPunct="0">
                <a:lnSpc>
                  <a:spcPct val="130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000" b="1" i="0" u="none" strike="noStrike" kern="0" cap="none" spc="0" normalizeH="0" baseline="0" noProof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3DD30F89-ABC2-ED59-2F48-6AD02B2BE088}"/>
                </a:ext>
              </a:extLst>
            </p:cNvPr>
            <p:cNvSpPr/>
            <p:nvPr/>
          </p:nvSpPr>
          <p:spPr>
            <a:xfrm>
              <a:off x="8470750" y="3551517"/>
              <a:ext cx="2746945" cy="22492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 bIns="36000" rtlCol="0" anchor="ctr"/>
            <a:lstStyle/>
            <a:p>
              <a:pPr marL="0" marR="0" lvl="0" indent="0" algn="ctr" defTabSz="957263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1" i="0" u="none" strike="noStrike" kern="0" cap="none" spc="0" normalizeH="0" baseline="0" noProof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정량적 기대효과</a:t>
              </a:r>
              <a:r>
                <a:rPr kumimoji="1" lang="en-US" altLang="ko-KR" sz="1000" b="1" i="0" u="none" strike="noStrike" kern="0" cap="none" spc="0" normalizeH="0" baseline="0" noProof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(</a:t>
              </a:r>
              <a:r>
                <a:rPr kumimoji="1" lang="ko-KR" altLang="en-US" sz="1000" b="1" i="0" u="none" strike="noStrike" kern="0" cap="none" spc="0" normalizeH="0" baseline="0" noProof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근거</a:t>
              </a:r>
              <a:r>
                <a:rPr kumimoji="1" lang="en-US" altLang="ko-KR" sz="1000" b="1" i="0" u="none" strike="noStrike" kern="0" cap="none" spc="0" normalizeH="0" baseline="0" noProof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)</a:t>
              </a:r>
              <a:endParaRPr kumimoji="1" lang="ko-KR" altLang="en-US" sz="1000" b="1" i="0" u="none" strike="noStrike" kern="0" cap="none" spc="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B9275D0-C939-56A1-C3DD-2E7589DD9D6E}"/>
              </a:ext>
            </a:extLst>
          </p:cNvPr>
          <p:cNvGrpSpPr/>
          <p:nvPr/>
        </p:nvGrpSpPr>
        <p:grpSpPr>
          <a:xfrm>
            <a:off x="5465118" y="2656005"/>
            <a:ext cx="3948334" cy="2697560"/>
            <a:chOff x="8470750" y="3551517"/>
            <a:chExt cx="2746946" cy="266429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63EB8F7-2DC5-014A-F6DA-53EBA94938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81392" y="3551517"/>
              <a:ext cx="2736304" cy="2664296"/>
            </a:xfrm>
            <a:prstGeom prst="rect">
              <a:avLst/>
            </a:prstGeom>
            <a:solidFill>
              <a:schemeClr val="bg1"/>
            </a:solidFill>
            <a:ln w="25400" algn="ctr">
              <a:solidFill>
                <a:schemeClr val="accent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none" lIns="143979" tIns="144000" rIns="71990" bIns="71990"/>
            <a:lstStyle/>
            <a:p>
              <a:pPr marL="0" marR="0" lvl="0" indent="0" algn="l" defTabSz="981075" rtl="0" eaLnBrk="0" fontAlgn="auto" latinLnBrk="1" hangingPunct="0">
                <a:lnSpc>
                  <a:spcPct val="130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000" b="1" i="0" u="none" strike="noStrike" kern="0" cap="none" spc="0" normalizeH="0" baseline="0" noProof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79D8D31C-BB70-1D75-07F1-BC12F79CF53F}"/>
                </a:ext>
              </a:extLst>
            </p:cNvPr>
            <p:cNvSpPr/>
            <p:nvPr/>
          </p:nvSpPr>
          <p:spPr>
            <a:xfrm>
              <a:off x="8470750" y="3551517"/>
              <a:ext cx="2746945" cy="22492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 bIns="36000" rtlCol="0" anchor="ctr"/>
            <a:lstStyle/>
            <a:p>
              <a:pPr marL="0" marR="0" lvl="0" indent="0" algn="ctr" defTabSz="957263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1" i="0" u="none" strike="noStrike" kern="0" cap="none" spc="0" normalizeH="0" baseline="0" noProof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정성적 기대효과</a:t>
              </a:r>
              <a:r>
                <a:rPr kumimoji="1" lang="en-US" altLang="ko-KR" sz="1000" b="1" i="0" u="none" strike="noStrike" kern="0" cap="none" spc="0" normalizeH="0" baseline="0" noProof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(</a:t>
              </a:r>
              <a:r>
                <a:rPr kumimoji="1" lang="ko-KR" altLang="en-US" sz="1000" b="1" i="0" u="none" strike="noStrike" kern="0" cap="none" spc="0" normalizeH="0" baseline="0" noProof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근거</a:t>
              </a:r>
              <a:r>
                <a:rPr kumimoji="1" lang="en-US" altLang="ko-KR" sz="1000" b="1" i="0" u="none" strike="noStrike" kern="0" cap="none" spc="0" normalizeH="0" baseline="0" noProof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)</a:t>
              </a:r>
              <a:endParaRPr kumimoji="1" lang="ko-KR" altLang="en-US" sz="1000" b="1" i="0" u="none" strike="noStrike" kern="0" cap="none" spc="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982695F4-763F-437A-139F-00EC0C7C82E5}"/>
              </a:ext>
            </a:extLst>
          </p:cNvPr>
          <p:cNvSpPr txBox="1"/>
          <p:nvPr/>
        </p:nvSpPr>
        <p:spPr bwMode="auto">
          <a:xfrm>
            <a:off x="1385186" y="3371464"/>
            <a:ext cx="3762547" cy="246221"/>
          </a:xfrm>
          <a:prstGeom prst="rect">
            <a:avLst/>
          </a:prstGeom>
          <a:solidFill>
            <a:srgbClr val="FFFFFF"/>
          </a:solidFill>
          <a:ln w="1270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26000" rIns="54000" rtlCol="0">
            <a:spAutoFit/>
          </a:bodyPr>
          <a:lstStyle/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en-US" altLang="ko-KR" sz="1000" kern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B115BAB-987C-AD1C-8DC9-A693D1F8CB8E}"/>
              </a:ext>
            </a:extLst>
          </p:cNvPr>
          <p:cNvSpPr txBox="1"/>
          <p:nvPr/>
        </p:nvSpPr>
        <p:spPr bwMode="auto">
          <a:xfrm>
            <a:off x="1373468" y="4799056"/>
            <a:ext cx="3507058" cy="246221"/>
          </a:xfrm>
          <a:prstGeom prst="rect">
            <a:avLst/>
          </a:prstGeom>
          <a:solidFill>
            <a:srgbClr val="FFFFFF"/>
          </a:solidFill>
          <a:ln w="1270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26000" rIns="54000" rtlCol="0">
            <a:spAutoFit/>
          </a:bodyPr>
          <a:lstStyle/>
          <a:p>
            <a:pPr marL="171450" lvl="0" indent="-171450" eaLnBrk="1" fontAlgn="auto" latinLnBrk="1" hangingPunct="1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endParaRPr kumimoji="0" lang="ko-KR" altLang="en-US" sz="1000" i="0" u="none" strike="noStrike" kern="0" cap="none" spc="0" normalizeH="0" baseline="0" noProof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graphicFrame>
        <p:nvGraphicFramePr>
          <p:cNvPr id="33" name="표 32">
            <a:extLst>
              <a:ext uri="{FF2B5EF4-FFF2-40B4-BE49-F238E27FC236}">
                <a16:creationId xmlns:a16="http://schemas.microsoft.com/office/drawing/2014/main" id="{91F48347-7011-E9C7-C5A6-1672E2696B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5262559"/>
              </p:ext>
            </p:extLst>
          </p:nvPr>
        </p:nvGraphicFramePr>
        <p:xfrm>
          <a:off x="6977163" y="59565"/>
          <a:ext cx="2601911" cy="565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7291">
                  <a:extLst>
                    <a:ext uri="{9D8B030D-6E8A-4147-A177-3AD203B41FA5}">
                      <a16:colId xmlns:a16="http://schemas.microsoft.com/office/drawing/2014/main" val="4111449450"/>
                    </a:ext>
                  </a:extLst>
                </a:gridCol>
                <a:gridCol w="1694620">
                  <a:extLst>
                    <a:ext uri="{9D8B030D-6E8A-4147-A177-3AD203B41FA5}">
                      <a16:colId xmlns:a16="http://schemas.microsoft.com/office/drawing/2014/main" val="2094758425"/>
                    </a:ext>
                  </a:extLst>
                </a:gridCol>
              </a:tblGrid>
              <a:tr h="134661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사업부</a:t>
                      </a:r>
                      <a:r>
                        <a:rPr kumimoji="0" lang="en-US" altLang="ko-KR" sz="1000" b="0" i="0" u="none" strike="noStrike" kern="1200" cap="none" spc="0" normalizeH="0" baseline="0" noProof="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본부</a:t>
                      </a:r>
                      <a:endParaRPr kumimoji="0" lang="en-US" altLang="ko-KR" sz="1000" b="0" i="0" u="none" strike="noStrike" kern="1200" cap="none" spc="0" normalizeH="0" baseline="0" noProof="0" dirty="0">
                        <a:ln>
                          <a:solidFill>
                            <a:srgbClr val="4F81BD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현대하모니 M" panose="02020603020101020101" pitchFamily="18" charset="-127"/>
                        <a:ea typeface="현대하모니 M" panose="02020603020101020101" pitchFamily="18" charset="-127"/>
                        <a:cs typeface="+mn-cs"/>
                      </a:endParaRPr>
                    </a:p>
                  </a:txBody>
                  <a:tcPr marL="72000" marR="72000" marT="36000" marB="0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구매본부</a:t>
                      </a:r>
                    </a:p>
                  </a:txBody>
                  <a:tcPr marL="72000" marR="72000" marT="36000" marB="0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0407906"/>
                  </a:ext>
                </a:extLst>
              </a:tr>
              <a:tr h="134661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000" b="0" i="0" u="none" strike="noStrike" kern="1200" cap="none" spc="0" normalizeH="0" baseline="0" noProof="0" dirty="0">
                          <a:ln>
                            <a:solidFill>
                              <a:srgbClr val="4F81BD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  <a:cs typeface="+mn-cs"/>
                        </a:rPr>
                        <a:t>팀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72000" marR="72000" marT="36000" marB="0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구매기획팀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글로벌구매팀</a:t>
                      </a:r>
                    </a:p>
                  </a:txBody>
                  <a:tcPr marL="72000" marR="72000" marT="36000" marB="0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9813899"/>
                  </a:ext>
                </a:extLst>
              </a:tr>
              <a:tr h="1346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담당자</a:t>
                      </a:r>
                    </a:p>
                  </a:txBody>
                  <a:tcPr marL="72000" marR="72000" marT="36000" marB="0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김종익 책임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,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조정현 책임</a:t>
                      </a:r>
                    </a:p>
                  </a:txBody>
                  <a:tcPr marL="72000" marR="72000" marT="36000" marB="0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8618606"/>
                  </a:ext>
                </a:extLst>
              </a:tr>
            </a:tbl>
          </a:graphicData>
        </a:graphic>
      </p:graphicFrame>
      <p:sp>
        <p:nvSpPr>
          <p:cNvPr id="19" name="Rectangle 7">
            <a:extLst>
              <a:ext uri="{FF2B5EF4-FFF2-40B4-BE49-F238E27FC236}">
                <a16:creationId xmlns:a16="http://schemas.microsoft.com/office/drawing/2014/main" id="{5DF8C0BB-7E27-8539-CEB6-628B426EC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288" y="1788242"/>
            <a:ext cx="757836" cy="3742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anchor="ctr"/>
          <a:lstStyle/>
          <a:p>
            <a:pPr marL="0" marR="0" lvl="0" indent="0" algn="ctr" defTabSz="957263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</a:rPr>
              <a:t>우선순위</a:t>
            </a:r>
            <a:endParaRPr kumimoji="0" lang="en-US" altLang="ko-KR" sz="1000" b="0" i="0" u="none" strike="noStrike" kern="1200" cap="none" spc="0" normalizeH="0" baseline="0" noProof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4BDF28E-119B-2476-7AA1-87BD79C823FD}"/>
              </a:ext>
            </a:extLst>
          </p:cNvPr>
          <p:cNvSpPr/>
          <p:nvPr/>
        </p:nvSpPr>
        <p:spPr bwMode="auto">
          <a:xfrm>
            <a:off x="1136575" y="1793441"/>
            <a:ext cx="8446543" cy="374275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44000" tIns="72000" rIns="72000" bIns="72000" rtlCol="0" anchor="ctr"/>
          <a:lstStyle/>
          <a:p>
            <a:pPr marL="171450" lvl="0" indent="-171450" eaLnBrk="1" fontAlgn="auto" latinLnBrk="1" hangingPunct="1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kumimoji="0" lang="en-US" altLang="ko-KR" sz="1000" kern="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rPr>
              <a:t>1</a:t>
            </a:r>
            <a:r>
              <a:rPr kumimoji="0" lang="ko-KR" altLang="en-US" sz="1000" kern="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rPr>
              <a:t>순위 </a:t>
            </a:r>
            <a:r>
              <a:rPr kumimoji="0" lang="en-US" altLang="ko-KR" sz="1000" kern="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rPr>
              <a:t>(</a:t>
            </a:r>
            <a:r>
              <a:rPr kumimoji="0" lang="ko-KR" altLang="en-US" sz="1000" kern="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rPr>
              <a:t>핵심</a:t>
            </a:r>
            <a:r>
              <a:rPr kumimoji="0" lang="en-US" altLang="ko-KR" sz="1000" kern="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rPr>
              <a:t>/</a:t>
            </a:r>
            <a:r>
              <a:rPr kumimoji="0" lang="ko-KR" altLang="en-US" sz="1000" kern="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rPr>
              <a:t>시급</a:t>
            </a:r>
            <a:r>
              <a:rPr kumimoji="0" lang="en-US" altLang="ko-KR" sz="1000" kern="0" dirty="0">
                <a:ln>
                  <a:solidFill>
                    <a:srgbClr val="4F81BD">
                      <a:alpha val="0"/>
                    </a:srgbClr>
                  </a:solidFill>
                </a:ln>
                <a:latin typeface="현대하모니 L" panose="02020603020101020101" pitchFamily="18" charset="-127"/>
                <a:ea typeface="현대하모니 L" panose="02020603020101020101" pitchFamily="18" charset="-127"/>
              </a:rPr>
              <a:t>)</a:t>
            </a:r>
            <a:endParaRPr lang="en-US" altLang="ko-KR" sz="10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3B48044C-502B-5FA9-D45E-C7FA2863B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245" y="2189486"/>
            <a:ext cx="757836" cy="37427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anchor="ctr"/>
          <a:lstStyle/>
          <a:p>
            <a:pPr marL="0" marR="0" lvl="0" indent="0" algn="ctr" defTabSz="957263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</a:rPr>
              <a:t>우선순위 산출 근거</a:t>
            </a:r>
            <a:endParaRPr kumimoji="0" lang="en-US" altLang="ko-KR" sz="1000" b="0" i="0" u="none" strike="noStrike" kern="1200" cap="none" spc="0" normalizeH="0" baseline="0" noProof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8614960-844C-B6AD-4850-7D4BD231FE00}"/>
              </a:ext>
            </a:extLst>
          </p:cNvPr>
          <p:cNvSpPr/>
          <p:nvPr/>
        </p:nvSpPr>
        <p:spPr bwMode="auto">
          <a:xfrm>
            <a:off x="1132532" y="2194685"/>
            <a:ext cx="8446543" cy="374275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44000" tIns="72000" rIns="72000" bIns="72000" rtlCol="0" anchor="ctr"/>
          <a:lstStyle/>
          <a:p>
            <a:pPr marL="171450" lvl="0" indent="-171450" eaLnBrk="1" fontAlgn="auto" latinLnBrk="1" hangingPunct="1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en-US" altLang="ko-KR" sz="10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AI </a:t>
            </a:r>
            <a:r>
              <a:rPr lang="ko-KR" altLang="en-US" sz="10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기반 협력사 </a:t>
            </a:r>
            <a:r>
              <a:rPr lang="ko-KR" altLang="en-US" sz="10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견적사</a:t>
            </a:r>
            <a:r>
              <a:rPr lang="ko-KR" altLang="en-US" sz="10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ko-KR" altLang="en-US" sz="10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적적성</a:t>
            </a:r>
            <a:r>
              <a:rPr lang="ko-KR" altLang="en-US" sz="10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분석을 통한 협력사 견적 검토 업무 효율성 및 정확성 향상</a:t>
            </a:r>
            <a:r>
              <a:rPr lang="en-US" altLang="ko-KR" sz="10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10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구매 협상력 강화</a:t>
            </a:r>
            <a:r>
              <a:rPr lang="en-US" altLang="ko-KR" sz="10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10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수익개선 추가확보</a:t>
            </a:r>
            <a:endParaRPr lang="en-US" altLang="ko-KR" sz="10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23" name="Rectangle 7">
            <a:extLst>
              <a:ext uri="{FF2B5EF4-FFF2-40B4-BE49-F238E27FC236}">
                <a16:creationId xmlns:a16="http://schemas.microsoft.com/office/drawing/2014/main" id="{0427ADEE-33B4-E303-0639-5A115BBDD7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245" y="1451006"/>
            <a:ext cx="757836" cy="28045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solidFill>
              <a:schemeClr val="bg1">
                <a:lumMod val="65000"/>
              </a:schemeClr>
            </a:solidFill>
          </a:ln>
        </p:spPr>
        <p:txBody>
          <a:bodyPr anchor="ctr"/>
          <a:lstStyle/>
          <a:p>
            <a:pPr marL="0" marR="0" lvl="0" indent="0" algn="ctr" defTabSz="957263" rtl="0" eaLnBrk="1" fontAlgn="base" latinLnBrk="1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</a:rPr>
              <a:t>과제 개요</a:t>
            </a:r>
            <a:endParaRPr kumimoji="0" lang="en-US" altLang="ko-KR" sz="1000" b="0" i="0" u="none" strike="noStrike" kern="1200" cap="none" spc="0" normalizeH="0" baseline="0" noProof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37E4B40-FA1B-1D1D-48FF-F72F881DF4D6}"/>
              </a:ext>
            </a:extLst>
          </p:cNvPr>
          <p:cNvSpPr/>
          <p:nvPr/>
        </p:nvSpPr>
        <p:spPr bwMode="auto">
          <a:xfrm>
            <a:off x="1132532" y="1451006"/>
            <a:ext cx="8446543" cy="280454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44000" tIns="72000" rIns="72000" bIns="72000" rtlCol="0" anchor="ctr"/>
          <a:lstStyle/>
          <a:p>
            <a:pPr marL="171450" lvl="0" indent="-171450" eaLnBrk="1" fontAlgn="auto" latinLnBrk="1" hangingPunct="1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ko-KR" altLang="en-US" sz="9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협력사 견적 단가 </a:t>
            </a:r>
            <a:r>
              <a:rPr lang="ko-KR" altLang="en-US" sz="9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검토시</a:t>
            </a:r>
            <a:r>
              <a:rPr lang="ko-KR" altLang="en-US" sz="9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en-US" altLang="ko-KR" sz="9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AI </a:t>
            </a:r>
            <a:r>
              <a:rPr lang="ko-KR" altLang="en-US" sz="9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유사도 분석 기반 표준단가 </a:t>
            </a:r>
            <a:r>
              <a:rPr lang="en-US" altLang="ko-KR" sz="9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DB </a:t>
            </a:r>
            <a:r>
              <a:rPr lang="ko-KR" altLang="en-US" sz="9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참조로 </a:t>
            </a:r>
            <a:r>
              <a:rPr lang="ko-KR" altLang="en-US" sz="9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견적가</a:t>
            </a:r>
            <a:r>
              <a:rPr lang="ko-KR" altLang="en-US" sz="9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비교</a:t>
            </a:r>
            <a:r>
              <a:rPr lang="en-US" altLang="ko-KR" sz="9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/</a:t>
            </a:r>
            <a:r>
              <a:rPr lang="ko-KR" altLang="en-US" sz="9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분석 업무 효율 제고 및 누적되는 견적 데이터 활용 지속적으로 표준단가 </a:t>
            </a:r>
            <a:r>
              <a:rPr lang="en-US" altLang="ko-KR" sz="9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DB </a:t>
            </a:r>
            <a:r>
              <a:rPr lang="ko-KR" altLang="en-US" sz="9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업데이트 체계 구축</a:t>
            </a:r>
            <a:endParaRPr lang="en-US" altLang="ko-KR" sz="9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D3715EFB-58C9-BD77-0878-224EF56393D6}"/>
              </a:ext>
            </a:extLst>
          </p:cNvPr>
          <p:cNvGraphicFramePr>
            <a:graphicFrameLocks noGrp="1"/>
          </p:cNvGraphicFramePr>
          <p:nvPr/>
        </p:nvGraphicFramePr>
        <p:xfrm>
          <a:off x="5542793" y="2936459"/>
          <a:ext cx="3808280" cy="22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625764683"/>
                    </a:ext>
                  </a:extLst>
                </a:gridCol>
                <a:gridCol w="687827">
                  <a:extLst>
                    <a:ext uri="{9D8B030D-6E8A-4147-A177-3AD203B41FA5}">
                      <a16:colId xmlns:a16="http://schemas.microsoft.com/office/drawing/2014/main" val="1181331522"/>
                    </a:ext>
                  </a:extLst>
                </a:gridCol>
                <a:gridCol w="2912173">
                  <a:extLst>
                    <a:ext uri="{9D8B030D-6E8A-4147-A177-3AD203B41FA5}">
                      <a16:colId xmlns:a16="http://schemas.microsoft.com/office/drawing/2014/main" val="2189640204"/>
                    </a:ext>
                  </a:extLst>
                </a:gridCol>
              </a:tblGrid>
              <a:tr h="10745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1</a:t>
                      </a:r>
                      <a:endParaRPr lang="ko-KR" altLang="en-US" sz="1000" b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견적가</a:t>
                      </a:r>
                      <a:r>
                        <a:rPr lang="ko-KR" altLang="en-US" sz="10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 검토</a:t>
                      </a:r>
                      <a:endParaRPr lang="en-US" altLang="ko-KR" sz="1000" b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algn="ctr" latinLnBrk="1"/>
                      <a:r>
                        <a:rPr lang="ko-KR" altLang="en-US" sz="10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정확성 향상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000" indent="-7200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ko-KR" altLang="en-US" sz="10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시스템 기반 </a:t>
                      </a:r>
                      <a:r>
                        <a:rPr lang="ko-KR" altLang="en-US" sz="1000" b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견적가</a:t>
                      </a:r>
                      <a:r>
                        <a:rPr lang="ko-KR" altLang="en-US" sz="10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자동분석을 통한 협력사 견적 </a:t>
                      </a:r>
                      <a:endParaRPr lang="en-US" altLang="ko-KR" sz="1000" b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0" indent="0" algn="l" latinLnBrk="1"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 </a:t>
                      </a:r>
                      <a:r>
                        <a:rPr lang="ko-KR" altLang="en-US" sz="10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검토 정확도 향상</a:t>
                      </a:r>
                      <a:endParaRPr lang="en-US" altLang="ko-KR" sz="1000" b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0" indent="0" algn="l" latinLnBrk="1">
                        <a:buFont typeface="Wingdings" panose="05000000000000000000" pitchFamily="2" charset="2"/>
                        <a:buNone/>
                      </a:pPr>
                      <a:endParaRPr lang="en-US" altLang="ko-KR" sz="1000" b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72000" indent="-7200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ko-KR" altLang="en-US" sz="10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수작업으로 발생하는 </a:t>
                      </a:r>
                      <a:r>
                        <a:rPr lang="ko-KR" altLang="en-US" sz="1000" b="0" dirty="0" err="1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휴먼에러</a:t>
                      </a:r>
                      <a:r>
                        <a:rPr lang="ko-KR" altLang="en-US" sz="10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최소화</a:t>
                      </a:r>
                      <a:endParaRPr lang="en-US" altLang="ko-KR" sz="1000" b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7800452"/>
                  </a:ext>
                </a:extLst>
              </a:tr>
              <a:tr h="11934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2</a:t>
                      </a:r>
                      <a:endParaRPr lang="ko-KR" altLang="en-US" sz="1000" b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구매 협상력 강화</a:t>
                      </a:r>
                      <a:endParaRPr lang="en-US" altLang="ko-KR" sz="1000" b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000" indent="-7200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ko-KR" altLang="en-US" sz="10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표준단가 </a:t>
                      </a:r>
                      <a:r>
                        <a:rPr lang="en-US" altLang="ko-KR" sz="10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DB </a:t>
                      </a:r>
                      <a:r>
                        <a:rPr lang="ko-KR" altLang="en-US" sz="10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구축을 통한 협력사 견적 경쟁력 여부 판단 가능</a:t>
                      </a:r>
                      <a:endParaRPr lang="en-US" altLang="ko-KR" sz="1000" b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72000" indent="-72000" algn="l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b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72000" indent="-7200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ko-KR" altLang="en-US" sz="10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명확한 근거 및 데이터 기반 협력사와 가격협상 가능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5716301"/>
                  </a:ext>
                </a:extLst>
              </a:tr>
            </a:tbl>
          </a:graphicData>
        </a:graphic>
      </p:graphicFrame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137B2E8E-ABCB-4A03-D77C-494BFCB22B7F}"/>
              </a:ext>
            </a:extLst>
          </p:cNvPr>
          <p:cNvGraphicFramePr>
            <a:graphicFrameLocks noGrp="1"/>
          </p:cNvGraphicFramePr>
          <p:nvPr/>
        </p:nvGraphicFramePr>
        <p:xfrm>
          <a:off x="1373468" y="2936458"/>
          <a:ext cx="3808280" cy="2268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625764683"/>
                    </a:ext>
                  </a:extLst>
                </a:gridCol>
                <a:gridCol w="687827">
                  <a:extLst>
                    <a:ext uri="{9D8B030D-6E8A-4147-A177-3AD203B41FA5}">
                      <a16:colId xmlns:a16="http://schemas.microsoft.com/office/drawing/2014/main" val="1181331522"/>
                    </a:ext>
                  </a:extLst>
                </a:gridCol>
                <a:gridCol w="2912173">
                  <a:extLst>
                    <a:ext uri="{9D8B030D-6E8A-4147-A177-3AD203B41FA5}">
                      <a16:colId xmlns:a16="http://schemas.microsoft.com/office/drawing/2014/main" val="2189640204"/>
                    </a:ext>
                  </a:extLst>
                </a:gridCol>
              </a:tblGrid>
              <a:tr h="10745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1</a:t>
                      </a:r>
                      <a:endParaRPr lang="ko-KR" altLang="en-US" sz="1000" b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업무 효율성</a:t>
                      </a:r>
                      <a:endParaRPr lang="en-US" altLang="ko-KR" sz="1000" b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algn="ctr" latinLnBrk="1"/>
                      <a:r>
                        <a:rPr lang="ko-KR" altLang="en-US" sz="10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향상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000" indent="-7200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ko-KR" altLang="en-US" sz="10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시스템 기반 化를 통한 불필요한 수기 작업 제거</a:t>
                      </a:r>
                      <a:r>
                        <a:rPr lang="en-US" altLang="ko-KR" sz="10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</a:p>
                    <a:p>
                      <a:pPr marL="0" indent="0" algn="l" latinLnBrk="1">
                        <a:buFont typeface="Wingdings" panose="05000000000000000000" pitchFamily="2" charset="2"/>
                        <a:buNone/>
                      </a:pPr>
                      <a:endParaRPr lang="en-US" altLang="ko-KR" sz="1000" b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72000" indent="-7200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ko-KR" altLang="en-US" sz="10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견적서 검토 업무 리드타임 및 리소스 절감</a:t>
                      </a:r>
                      <a:endParaRPr lang="en-US" altLang="ko-KR" sz="1000" b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0" indent="0" algn="l" latinLnBrk="1"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  - 10</a:t>
                      </a:r>
                      <a:r>
                        <a:rPr lang="ko-KR" altLang="en-US" sz="10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명 </a:t>
                      </a:r>
                      <a:r>
                        <a:rPr lang="en-US" altLang="ko-KR" sz="10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* 1</a:t>
                      </a:r>
                      <a:r>
                        <a:rPr lang="ko-KR" altLang="en-US" sz="10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시간 </a:t>
                      </a:r>
                      <a:r>
                        <a:rPr lang="en-US" altLang="ko-KR" sz="10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* 237</a:t>
                      </a:r>
                      <a:r>
                        <a:rPr lang="ko-KR" altLang="en-US" sz="10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일 </a:t>
                      </a:r>
                      <a:r>
                        <a:rPr lang="en-US" altLang="ko-KR" sz="10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* 3.6</a:t>
                      </a:r>
                      <a:r>
                        <a:rPr lang="ko-KR" altLang="en-US" sz="10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만 </a:t>
                      </a:r>
                      <a:r>
                        <a:rPr lang="en-US" altLang="ko-KR" sz="10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= 0.85</a:t>
                      </a:r>
                      <a:r>
                        <a:rPr lang="ko-KR" altLang="en-US" sz="10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억</a:t>
                      </a:r>
                      <a:endParaRPr lang="en-US" altLang="ko-KR" sz="1000" b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7800452"/>
                  </a:ext>
                </a:extLst>
              </a:tr>
              <a:tr h="119348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2</a:t>
                      </a:r>
                      <a:endParaRPr lang="ko-KR" altLang="en-US" sz="1000" b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수익개선</a:t>
                      </a:r>
                      <a:endParaRPr lang="en-US" altLang="ko-KR" sz="1000" b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algn="ctr" latinLnBrk="1"/>
                      <a:r>
                        <a:rPr lang="ko-KR" altLang="en-US" sz="10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추가확보</a:t>
                      </a:r>
                      <a:endParaRPr lang="en-US" altLang="ko-KR" sz="1000" b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2000" indent="-7200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AI </a:t>
                      </a:r>
                      <a:r>
                        <a:rPr lang="ko-KR" altLang="en-US" sz="10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단가 분석으로 가격 합리성</a:t>
                      </a:r>
                      <a:r>
                        <a:rPr lang="en-US" altLang="ko-KR" sz="10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·</a:t>
                      </a:r>
                      <a:r>
                        <a:rPr lang="ko-KR" altLang="en-US" sz="10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시장 대비 적정성 </a:t>
                      </a:r>
                      <a:endParaRPr lang="en-US" altLang="ko-KR" sz="1000" b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0" indent="0" algn="l" latinLnBrk="1"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 </a:t>
                      </a:r>
                      <a:r>
                        <a:rPr lang="ko-KR" altLang="en-US" sz="10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정밀 분석</a:t>
                      </a:r>
                      <a:endParaRPr lang="en-US" altLang="ko-KR" sz="1000" b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0" indent="0" algn="l" latinLnBrk="1">
                        <a:buFont typeface="Wingdings" panose="05000000000000000000" pitchFamily="2" charset="2"/>
                        <a:buNone/>
                      </a:pPr>
                      <a:endParaRPr lang="ko-KR" altLang="en-US" sz="1000" b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72000" indent="-7200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ko-KR" altLang="en-US" sz="10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협상력 강화로 약 </a:t>
                      </a:r>
                      <a:r>
                        <a:rPr lang="en-US" altLang="ko-KR" sz="10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5% </a:t>
                      </a:r>
                      <a:r>
                        <a:rPr lang="ko-KR" altLang="en-US" sz="10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추가 수익개선</a:t>
                      </a:r>
                      <a:endParaRPr lang="en-US" altLang="ko-KR" sz="1000" b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0" indent="0" algn="l" latinLnBrk="1"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  -‘26</a:t>
                      </a:r>
                      <a:r>
                        <a:rPr lang="ko-KR" altLang="en-US" sz="10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년 수익개선 예상 </a:t>
                      </a:r>
                      <a:r>
                        <a:rPr lang="en-US" altLang="ko-KR" sz="10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63.4</a:t>
                      </a:r>
                      <a:r>
                        <a:rPr lang="ko-KR" altLang="en-US" sz="10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억 * </a:t>
                      </a:r>
                      <a:r>
                        <a:rPr lang="en-US" altLang="ko-KR" sz="10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5% = 3.2</a:t>
                      </a:r>
                      <a:r>
                        <a:rPr lang="ko-KR" altLang="en-US" sz="1000" b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억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5716301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76604606-5D40-8A99-853D-0D294F8234AE}"/>
              </a:ext>
            </a:extLst>
          </p:cNvPr>
          <p:cNvSpPr txBox="1"/>
          <p:nvPr/>
        </p:nvSpPr>
        <p:spPr>
          <a:xfrm>
            <a:off x="1309384" y="5465116"/>
            <a:ext cx="2744021" cy="16158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buSzPct val="100000"/>
              <a:buNone/>
            </a:pPr>
            <a:r>
              <a:rPr lang="en-US" altLang="ko-KR" sz="1050" spc="-6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※ ‘26</a:t>
            </a:r>
            <a:r>
              <a:rPr lang="ko-KR" altLang="en-US" sz="1050" spc="-6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년 설비구매 우선 적용</a:t>
            </a:r>
            <a:r>
              <a:rPr lang="en-US" altLang="ko-KR" sz="1050" spc="-6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‘27</a:t>
            </a:r>
            <a:r>
              <a:rPr lang="ko-KR" altLang="en-US" sz="1050" spc="-6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년 부품구매 확대 적용</a:t>
            </a:r>
          </a:p>
        </p:txBody>
      </p:sp>
    </p:spTree>
    <p:extLst>
      <p:ext uri="{BB962C8B-B14F-4D97-AF65-F5344CB8AC3E}">
        <p14:creationId xmlns:p14="http://schemas.microsoft.com/office/powerpoint/2010/main" val="14636602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13355-D3E4-D6DC-1720-D748BFBB6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115A6C-0CEA-E551-CE1C-E3A3ADA48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488" y="201159"/>
            <a:ext cx="7091053" cy="583200"/>
          </a:xfrm>
        </p:spPr>
        <p:txBody>
          <a:bodyPr/>
          <a:lstStyle/>
          <a:p>
            <a:pPr marL="360363" lvl="1" indent="-360363" algn="l" defTabSz="957263">
              <a:defRPr/>
            </a:pP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</a:rPr>
              <a:t>■ </a:t>
            </a:r>
            <a:r>
              <a:rPr lang="en-US" altLang="ko-KR" sz="1400" kern="1200"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2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</a:rPr>
              <a:t>. </a:t>
            </a: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</a:rPr>
              <a:t>과제에 필요한 데이터 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</a:rPr>
              <a:t>(</a:t>
            </a: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</a:rPr>
              <a:t>정형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</a:rPr>
              <a:t>, </a:t>
            </a:r>
            <a:r>
              <a:rPr kumimoji="0" lang="ko-KR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</a:rPr>
              <a:t>시스템</a:t>
            </a:r>
            <a:r>
              <a:rPr kumimoji="0" lang="en-US" altLang="ko-KR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</a:rPr>
              <a:t>)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931D70AF-E972-AFB6-3DD5-EC4388461DCB}"/>
              </a:ext>
            </a:extLst>
          </p:cNvPr>
          <p:cNvGraphicFramePr>
            <a:graphicFrameLocks noGrp="1"/>
          </p:cNvGraphicFramePr>
          <p:nvPr/>
        </p:nvGraphicFramePr>
        <p:xfrm>
          <a:off x="381792" y="930036"/>
          <a:ext cx="9142416" cy="220133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1269">
                  <a:extLst>
                    <a:ext uri="{9D8B030D-6E8A-4147-A177-3AD203B41FA5}">
                      <a16:colId xmlns:a16="http://schemas.microsoft.com/office/drawing/2014/main" val="2203297076"/>
                    </a:ext>
                  </a:extLst>
                </a:gridCol>
                <a:gridCol w="1026368">
                  <a:extLst>
                    <a:ext uri="{9D8B030D-6E8A-4147-A177-3AD203B41FA5}">
                      <a16:colId xmlns:a16="http://schemas.microsoft.com/office/drawing/2014/main" val="3175770937"/>
                    </a:ext>
                  </a:extLst>
                </a:gridCol>
                <a:gridCol w="1605445">
                  <a:extLst>
                    <a:ext uri="{9D8B030D-6E8A-4147-A177-3AD203B41FA5}">
                      <a16:colId xmlns:a16="http://schemas.microsoft.com/office/drawing/2014/main" val="1418792536"/>
                    </a:ext>
                  </a:extLst>
                </a:gridCol>
                <a:gridCol w="1089891">
                  <a:extLst>
                    <a:ext uri="{9D8B030D-6E8A-4147-A177-3AD203B41FA5}">
                      <a16:colId xmlns:a16="http://schemas.microsoft.com/office/drawing/2014/main" val="3474357942"/>
                    </a:ext>
                  </a:extLst>
                </a:gridCol>
                <a:gridCol w="1441037">
                  <a:extLst>
                    <a:ext uri="{9D8B030D-6E8A-4147-A177-3AD203B41FA5}">
                      <a16:colId xmlns:a16="http://schemas.microsoft.com/office/drawing/2014/main" val="2757282014"/>
                    </a:ext>
                  </a:extLst>
                </a:gridCol>
                <a:gridCol w="1274454">
                  <a:extLst>
                    <a:ext uri="{9D8B030D-6E8A-4147-A177-3AD203B41FA5}">
                      <a16:colId xmlns:a16="http://schemas.microsoft.com/office/drawing/2014/main" val="764049879"/>
                    </a:ext>
                  </a:extLst>
                </a:gridCol>
                <a:gridCol w="1391203">
                  <a:extLst>
                    <a:ext uri="{9D8B030D-6E8A-4147-A177-3AD203B41FA5}">
                      <a16:colId xmlns:a16="http://schemas.microsoft.com/office/drawing/2014/main" val="2475332669"/>
                    </a:ext>
                  </a:extLst>
                </a:gridCol>
                <a:gridCol w="762749">
                  <a:extLst>
                    <a:ext uri="{9D8B030D-6E8A-4147-A177-3AD203B41FA5}">
                      <a16:colId xmlns:a16="http://schemas.microsoft.com/office/drawing/2014/main" val="3069659554"/>
                    </a:ext>
                  </a:extLst>
                </a:gridCol>
              </a:tblGrid>
              <a:tr h="64745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No.</a:t>
                      </a:r>
                      <a:endParaRPr lang="ko-KR" altLang="en-US" sz="12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시스템 명칭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시스템 메뉴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시스템 화면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데이터 상세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데이터 접근 권한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67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개인정보 포함 여부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비 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9617991"/>
                  </a:ext>
                </a:extLst>
              </a:tr>
              <a:tr h="7769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AONE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Home &gt; </a:t>
                      </a:r>
                    </a:p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업체선정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&gt; RFQ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관리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&gt;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RFQ 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진행현황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업체선정완료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&gt;</a:t>
                      </a:r>
                    </a:p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업체 견적서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부서 대외비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구매 담당자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직무코드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미 포함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3176762"/>
                  </a:ext>
                </a:extLst>
              </a:tr>
              <a:tr h="7769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완성차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VAATZ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소싱관리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&gt; </a:t>
                      </a:r>
                    </a:p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입찰계획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&gt; </a:t>
                      </a:r>
                    </a:p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입찰진행현황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입찰 마감 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&gt;</a:t>
                      </a:r>
                    </a:p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업체 견적서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부서 대외비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구매 담당자</a:t>
                      </a:r>
                      <a:endParaRPr lang="en-US" altLang="ko-KR" sz="120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사번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미 포함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8541268"/>
                  </a:ext>
                </a:extLst>
              </a:tr>
            </a:tbl>
          </a:graphicData>
        </a:graphic>
      </p:graphicFrame>
      <p:pic>
        <p:nvPicPr>
          <p:cNvPr id="1026" name="Picture 2">
            <a:extLst>
              <a:ext uri="{FF2B5EF4-FFF2-40B4-BE49-F238E27FC236}">
                <a16:creationId xmlns:a16="http://schemas.microsoft.com/office/drawing/2014/main" id="{22F56BAB-5186-BDC7-10D8-ECB58C865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6409" y="1614120"/>
            <a:ext cx="1048473" cy="668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99D11EE-255C-2D95-E388-B5AD043CB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6408" y="2428762"/>
            <a:ext cx="1048473" cy="589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53C5480-E01A-C774-6A9B-9D33F02BA19F}"/>
              </a:ext>
            </a:extLst>
          </p:cNvPr>
          <p:cNvSpPr txBox="1"/>
          <p:nvPr/>
        </p:nvSpPr>
        <p:spPr>
          <a:xfrm>
            <a:off x="381792" y="3184715"/>
            <a:ext cx="257025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buSzPct val="100000"/>
              <a:buNone/>
            </a:pPr>
            <a:r>
              <a:rPr lang="en-US" altLang="ko-KR" sz="1200" spc="-6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※ </a:t>
            </a:r>
            <a:r>
              <a:rPr lang="ko-KR" altLang="en-US" sz="1200" spc="-6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기준정보 관리 </a:t>
            </a:r>
            <a:r>
              <a:rPr lang="en-US" altLang="ko-KR" sz="1200" spc="-6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: </a:t>
            </a:r>
            <a:r>
              <a:rPr lang="ko-KR" altLang="en-US" sz="1200" spc="-6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인건비</a:t>
            </a:r>
            <a:r>
              <a:rPr lang="en-US" altLang="ko-KR" sz="1200" spc="-6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1200" spc="-6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이윤</a:t>
            </a:r>
            <a:r>
              <a:rPr lang="en-US" altLang="ko-KR" sz="1200" spc="-6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/</a:t>
            </a:r>
            <a:r>
              <a:rPr lang="ko-KR" altLang="en-US" sz="1200" spc="-6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관리비</a:t>
            </a:r>
            <a:r>
              <a:rPr lang="en-US" altLang="ko-KR" sz="1200" spc="-6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1200" spc="-6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경비</a:t>
            </a:r>
          </a:p>
        </p:txBody>
      </p:sp>
    </p:spTree>
    <p:extLst>
      <p:ext uri="{BB962C8B-B14F-4D97-AF65-F5344CB8AC3E}">
        <p14:creationId xmlns:p14="http://schemas.microsoft.com/office/powerpoint/2010/main" val="1073518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A2728-8D17-3958-22B1-F6A16D2A1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F1954E-202B-C5CF-C1A3-1786D6E74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488" y="201159"/>
            <a:ext cx="7091053" cy="583200"/>
          </a:xfrm>
        </p:spPr>
        <p:txBody>
          <a:bodyPr/>
          <a:lstStyle/>
          <a:p>
            <a:pPr marL="360363" lvl="1" indent="-360363" algn="l" defTabSz="957263"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</a:rPr>
              <a:t>■ </a:t>
            </a:r>
            <a:r>
              <a:rPr lang="en-US" altLang="ko-KR" sz="1400" kern="1200" dirty="0"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2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</a:rPr>
              <a:t>.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</a:rPr>
              <a:t>과제에 필요한 데이터 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</a:rPr>
              <a:t>(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</a:rPr>
              <a:t>비정형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</a:rPr>
              <a:t>,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</a:rPr>
              <a:t>시스템 외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현대하모니 M" panose="02020603020101020101" pitchFamily="18" charset="-127"/>
                <a:ea typeface="현대하모니 M" panose="02020603020101020101" pitchFamily="18" charset="-127"/>
              </a:rPr>
              <a:t>)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64579723-6CD4-9635-9A70-C98B584FEB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2509310"/>
              </p:ext>
            </p:extLst>
          </p:nvPr>
        </p:nvGraphicFramePr>
        <p:xfrm>
          <a:off x="419100" y="923453"/>
          <a:ext cx="9142416" cy="57333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13961">
                  <a:extLst>
                    <a:ext uri="{9D8B030D-6E8A-4147-A177-3AD203B41FA5}">
                      <a16:colId xmlns:a16="http://schemas.microsoft.com/office/drawing/2014/main" val="2203297076"/>
                    </a:ext>
                  </a:extLst>
                </a:gridCol>
                <a:gridCol w="961053">
                  <a:extLst>
                    <a:ext uri="{9D8B030D-6E8A-4147-A177-3AD203B41FA5}">
                      <a16:colId xmlns:a16="http://schemas.microsoft.com/office/drawing/2014/main" val="3175770937"/>
                    </a:ext>
                  </a:extLst>
                </a:gridCol>
                <a:gridCol w="1240972">
                  <a:extLst>
                    <a:ext uri="{9D8B030D-6E8A-4147-A177-3AD203B41FA5}">
                      <a16:colId xmlns:a16="http://schemas.microsoft.com/office/drawing/2014/main" val="1418792536"/>
                    </a:ext>
                  </a:extLst>
                </a:gridCol>
                <a:gridCol w="1931436">
                  <a:extLst>
                    <a:ext uri="{9D8B030D-6E8A-4147-A177-3AD203B41FA5}">
                      <a16:colId xmlns:a16="http://schemas.microsoft.com/office/drawing/2014/main" val="3474357942"/>
                    </a:ext>
                  </a:extLst>
                </a:gridCol>
                <a:gridCol w="907402">
                  <a:extLst>
                    <a:ext uri="{9D8B030D-6E8A-4147-A177-3AD203B41FA5}">
                      <a16:colId xmlns:a16="http://schemas.microsoft.com/office/drawing/2014/main" val="2757282014"/>
                    </a:ext>
                  </a:extLst>
                </a:gridCol>
                <a:gridCol w="940060">
                  <a:extLst>
                    <a:ext uri="{9D8B030D-6E8A-4147-A177-3AD203B41FA5}">
                      <a16:colId xmlns:a16="http://schemas.microsoft.com/office/drawing/2014/main" val="1177153738"/>
                    </a:ext>
                  </a:extLst>
                </a:gridCol>
                <a:gridCol w="942392">
                  <a:extLst>
                    <a:ext uri="{9D8B030D-6E8A-4147-A177-3AD203B41FA5}">
                      <a16:colId xmlns:a16="http://schemas.microsoft.com/office/drawing/2014/main" val="764049879"/>
                    </a:ext>
                  </a:extLst>
                </a:gridCol>
                <a:gridCol w="839754">
                  <a:extLst>
                    <a:ext uri="{9D8B030D-6E8A-4147-A177-3AD203B41FA5}">
                      <a16:colId xmlns:a16="http://schemas.microsoft.com/office/drawing/2014/main" val="2475332669"/>
                    </a:ext>
                  </a:extLst>
                </a:gridCol>
                <a:gridCol w="865386">
                  <a:extLst>
                    <a:ext uri="{9D8B030D-6E8A-4147-A177-3AD203B41FA5}">
                      <a16:colId xmlns:a16="http://schemas.microsoft.com/office/drawing/2014/main" val="3069659554"/>
                    </a:ext>
                  </a:extLst>
                </a:gridCol>
              </a:tblGrid>
              <a:tr h="7815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No.</a:t>
                      </a:r>
                      <a:endParaRPr lang="ko-KR" altLang="en-US" sz="12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데이터 명칭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데이터 위치</a:t>
                      </a:r>
                      <a:endParaRPr lang="en-US" altLang="ko-KR" sz="12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ko-KR" altLang="en-US" sz="12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공장 단위</a:t>
                      </a:r>
                      <a:r>
                        <a:rPr lang="en-US" altLang="ko-KR" sz="12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endParaRPr lang="ko-KR" altLang="en-US" sz="12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데이터 위치</a:t>
                      </a:r>
                      <a:endParaRPr lang="en-US" altLang="ko-KR" sz="12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ko-KR" altLang="en-US" sz="12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설비 단위</a:t>
                      </a:r>
                      <a:r>
                        <a:rPr lang="en-US" altLang="ko-KR" sz="12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endParaRPr lang="ko-KR" altLang="en-US" sz="12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데이터 상세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데이터 샘플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데이터 접근 권한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67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개인정보 </a:t>
                      </a:r>
                      <a:endParaRPr lang="en-US" altLang="ko-KR" sz="12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0" marR="0" lvl="0" indent="0" algn="ctr" defTabSz="68567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포함 여부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비 고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9617991"/>
                  </a:ext>
                </a:extLst>
              </a:tr>
              <a:tr h="6189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endParaRPr lang="ko-KR" altLang="en-US" sz="12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외부 </a:t>
                      </a:r>
                      <a:r>
                        <a:rPr lang="ko-KR" altLang="en-US" sz="1200" dirty="0" err="1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시장가</a:t>
                      </a:r>
                      <a:endParaRPr lang="ko-KR" altLang="en-US" sz="12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한국물가정보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https://www.kpi.or.kr</a:t>
                      </a:r>
                      <a:endParaRPr lang="ko-KR" altLang="en-US" sz="12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노임단가</a:t>
                      </a:r>
                      <a:endParaRPr lang="en-US" altLang="ko-KR" sz="12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algn="ctr" latinLnBrk="1"/>
                      <a:r>
                        <a:rPr lang="ko-KR" altLang="en-US" sz="12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원자재 시세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전사</a:t>
                      </a:r>
                      <a:endParaRPr lang="en-US" altLang="ko-KR" sz="12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미포함</a:t>
                      </a:r>
                      <a:endParaRPr lang="en-US" altLang="ko-KR" sz="12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2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RPA Data Scraping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8541268"/>
                  </a:ext>
                </a:extLst>
              </a:tr>
              <a:tr h="6189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endParaRPr lang="ko-KR" altLang="en-US" sz="120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2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↑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디바이스마트</a:t>
                      </a:r>
                      <a:endParaRPr lang="ko-KR" altLang="en-US" sz="12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www.devicemart.co.kr</a:t>
                      </a:r>
                      <a:endParaRPr lang="ko-KR" altLang="en-US" sz="12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표준품</a:t>
                      </a:r>
                      <a:r>
                        <a:rPr lang="ko-KR" altLang="en-US" sz="12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단가</a:t>
                      </a:r>
                      <a:endParaRPr lang="en-US" altLang="ko-KR" sz="12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algn="ctr" latinLnBrk="1"/>
                      <a:r>
                        <a:rPr lang="en-US" altLang="ko-KR" sz="12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ko-KR" altLang="en-US" sz="12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품명</a:t>
                      </a:r>
                      <a:r>
                        <a:rPr lang="en-US" altLang="ko-KR" sz="12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/</a:t>
                      </a:r>
                      <a:r>
                        <a:rPr lang="ko-KR" altLang="en-US" sz="12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규격</a:t>
                      </a:r>
                      <a:r>
                        <a:rPr lang="en-US" altLang="ko-KR" sz="12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endParaRPr lang="ko-KR" altLang="en-US" sz="12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2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-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2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↑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2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↑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2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↑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1532219"/>
                  </a:ext>
                </a:extLst>
              </a:tr>
              <a:tr h="6189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  <a:endParaRPr lang="ko-KR" altLang="en-US" sz="12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2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↑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마우저</a:t>
                      </a:r>
                      <a:endParaRPr lang="ko-KR" altLang="en-US" sz="12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www.mouser.kr</a:t>
                      </a:r>
                      <a:endParaRPr lang="ko-KR" altLang="en-US" sz="12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2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↑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2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2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↑</a:t>
                      </a:r>
                      <a:endParaRPr lang="ko-KR" altLang="en-US" sz="12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2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↑</a:t>
                      </a:r>
                      <a:endParaRPr lang="ko-KR" altLang="en-US" sz="12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2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↑</a:t>
                      </a:r>
                      <a:endParaRPr lang="ko-KR" altLang="en-US" sz="12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8064809"/>
                  </a:ext>
                </a:extLst>
              </a:tr>
              <a:tr h="6189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</a:t>
                      </a:r>
                      <a:endParaRPr lang="ko-KR" altLang="en-US" sz="120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2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↑</a:t>
                      </a:r>
                      <a:endParaRPr lang="ko-KR" altLang="en-US" sz="12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디지키</a:t>
                      </a:r>
                      <a:endParaRPr lang="ko-KR" altLang="en-US" sz="12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www.digikey.kr</a:t>
                      </a:r>
                      <a:endParaRPr lang="ko-KR" altLang="en-US" sz="12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2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↑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2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-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2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↑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2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↑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2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↑</a:t>
                      </a:r>
                      <a:endParaRPr lang="ko-KR" altLang="en-US" sz="12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1768718"/>
                  </a:ext>
                </a:extLst>
              </a:tr>
              <a:tr h="6189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</a:t>
                      </a:r>
                      <a:endParaRPr lang="ko-KR" altLang="en-US" sz="12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2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↑</a:t>
                      </a:r>
                      <a:endParaRPr lang="ko-KR" altLang="en-US" sz="12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2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Open API</a:t>
                      </a:r>
                      <a:endParaRPr lang="ko-KR" altLang="en-US" sz="12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</a:t>
                      </a:r>
                      <a:endParaRPr lang="en-US" altLang="ko-KR" sz="12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2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↑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</a:t>
                      </a:r>
                      <a:endParaRPr lang="ko-KR" altLang="en-US" sz="12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2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↑</a:t>
                      </a:r>
                      <a:endParaRPr lang="ko-KR" altLang="en-US" sz="12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2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↑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 Chat </a:t>
                      </a:r>
                      <a:r>
                        <a:rPr lang="ko-KR" altLang="en-US" sz="1200" dirty="0"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등</a:t>
                      </a:r>
                      <a:endParaRPr lang="en-US" altLang="ko-KR" sz="12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1156849"/>
                  </a:ext>
                </a:extLst>
              </a:tr>
              <a:tr h="618986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2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2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2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2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2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2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3944350"/>
                  </a:ext>
                </a:extLst>
              </a:tr>
              <a:tr h="618986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2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2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2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2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2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2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1844346"/>
                  </a:ext>
                </a:extLst>
              </a:tr>
              <a:tr h="618986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2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2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2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2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2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29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200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6411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5890035"/>
      </p:ext>
    </p:extLst>
  </p:cSld>
  <p:clrMapOvr>
    <a:masterClrMapping/>
  </p:clrMapOvr>
</p:sld>
</file>

<file path=ppt/theme/theme1.xml><?xml version="1.0" encoding="utf-8"?>
<a:theme xmlns:a="http://schemas.openxmlformats.org/drawingml/2006/main" name="마스터-본문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headEnd type="oval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>
          <a:buSzPct val="100000"/>
          <a:buNone/>
          <a:defRPr sz="1800" spc="-60" dirty="0" smtClean="0">
            <a:solidFill>
              <a:schemeClr val="tx1">
                <a:lumMod val="65000"/>
                <a:lumOff val="35000"/>
              </a:schemeClr>
            </a:solidFill>
            <a:latin typeface="+mn-e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CC8399F651B66240A076DDB897014D07" ma:contentTypeVersion="13" ma:contentTypeDescription="새 문서를 만듭니다." ma:contentTypeScope="" ma:versionID="e8180ac8eefd51b2e84b1055f1fb9cce">
  <xsd:schema xmlns:xsd="http://www.w3.org/2001/XMLSchema" xmlns:xs="http://www.w3.org/2001/XMLSchema" xmlns:p="http://schemas.microsoft.com/office/2006/metadata/properties" xmlns:ns2="721472d9-9ab1-4240-9f83-8a3717fb03b6" xmlns:ns3="4267573f-7541-4974-b5d7-3785ff962185" targetNamespace="http://schemas.microsoft.com/office/2006/metadata/properties" ma:root="true" ma:fieldsID="f901b78c3c1e64028457d0aaec0579d7" ns2:_="" ns3:_="">
    <xsd:import namespace="721472d9-9ab1-4240-9f83-8a3717fb03b6"/>
    <xsd:import namespace="4267573f-7541-4974-b5d7-3785ff96218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1472d9-9ab1-4240-9f83-8a3717fb03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5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7" nillable="true" ma:taxonomy="true" ma:internalName="lcf76f155ced4ddcb4097134ff3c332f" ma:taxonomyFieldName="MediaServiceImageTags" ma:displayName="이미지 태그" ma:readOnly="false" ma:fieldId="{5cf76f15-5ced-4ddc-b409-7134ff3c332f}" ma:taxonomyMulti="true" ma:sspId="dc8d4fff-a70f-4a31-a840-a63830c0e07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67573f-7541-4974-b5d7-3785ff962185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d92fdf0-9261-4b3f-b2f3-fe6cbf971bfc}" ma:internalName="TaxCatchAll" ma:showField="CatchAllData" ma:web="4267573f-7541-4974-b5d7-3785ff96218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267573f-7541-4974-b5d7-3785ff962185" xsi:nil="true"/>
    <lcf76f155ced4ddcb4097134ff3c332f xmlns="721472d9-9ab1-4240-9f83-8a3717fb03b6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7B9BAA7-9214-4CCC-B831-708FEB4D8C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21472d9-9ab1-4240-9f83-8a3717fb03b6"/>
    <ds:schemaRef ds:uri="4267573f-7541-4974-b5d7-3785ff96218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1884007-916C-4333-91EF-C31DDE423248}">
  <ds:schemaRefs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4267573f-7541-4974-b5d7-3785ff962185"/>
    <ds:schemaRef ds:uri="721472d9-9ab1-4240-9f83-8a3717fb03b6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E37A4819-915B-4475-AC4F-FAB32A7F6F89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230cd02f-714d-4653-8382-0ecf5aacd0fa}" enabled="1" method="Privileged" siteId="{9682717c-e5aa-4e3f-ae88-3507a84b461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1468</TotalTime>
  <Words>490</Words>
  <Application>Microsoft Office PowerPoint</Application>
  <PresentationFormat>A4 용지(210x297mm)</PresentationFormat>
  <Paragraphs>142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0" baseType="lpstr">
      <vt:lpstr>굴림</vt:lpstr>
      <vt:lpstr>맑은 고딕</vt:lpstr>
      <vt:lpstr>현대하모니 L</vt:lpstr>
      <vt:lpstr>현대하모니 M</vt:lpstr>
      <vt:lpstr>Arial</vt:lpstr>
      <vt:lpstr>Wingdings</vt:lpstr>
      <vt:lpstr>마스터-본문</vt:lpstr>
      <vt:lpstr>■ 협력사 견적가 적정성 분석 시스템 구축</vt:lpstr>
      <vt:lpstr>■ 2. 과제에 필요한 데이터 (정형, 시스템)</vt:lpstr>
      <vt:lpstr>■ 2. 과제에 필요한 데이터 (비정형, 시스템 외)</vt:lpstr>
    </vt:vector>
  </TitlesOfParts>
  <Company>wia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wia</dc:creator>
  <cp:lastModifiedBy>김종익 책임매니저 구매기획팀</cp:lastModifiedBy>
  <cp:revision>65</cp:revision>
  <cp:lastPrinted>2025-09-02T04:21:01Z</cp:lastPrinted>
  <dcterms:created xsi:type="dcterms:W3CDTF">2009-08-10T05:57:14Z</dcterms:created>
  <dcterms:modified xsi:type="dcterms:W3CDTF">2026-07-03T06:04:09Z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f9d72c4-8477-49e6-99f9-cf198593d803_Enabled">
    <vt:lpwstr>true</vt:lpwstr>
  </property>
  <property fmtid="{D5CDD505-2E9C-101B-9397-08002B2CF9AE}" pid="3" name="MSIP_Label_af9d72c4-8477-49e6-99f9-cf198593d803_SetDate">
    <vt:lpwstr>2021-06-21T00:40:31Z</vt:lpwstr>
  </property>
  <property fmtid="{D5CDD505-2E9C-101B-9397-08002B2CF9AE}" pid="4" name="MSIP_Label_af9d72c4-8477-49e6-99f9-cf198593d803_Method">
    <vt:lpwstr>Privileged</vt:lpwstr>
  </property>
  <property fmtid="{D5CDD505-2E9C-101B-9397-08002B2CF9AE}" pid="5" name="MSIP_Label_af9d72c4-8477-49e6-99f9-cf198593d803_Name">
    <vt:lpwstr>일반(Public)</vt:lpwstr>
  </property>
  <property fmtid="{D5CDD505-2E9C-101B-9397-08002B2CF9AE}" pid="6" name="MSIP_Label_af9d72c4-8477-49e6-99f9-cf198593d803_SiteId">
    <vt:lpwstr>9682717c-e5aa-4e3f-ae88-3507a84b4611</vt:lpwstr>
  </property>
  <property fmtid="{D5CDD505-2E9C-101B-9397-08002B2CF9AE}" pid="7" name="MSIP_Label_af9d72c4-8477-49e6-99f9-cf198593d803_ActionId">
    <vt:lpwstr>bb959b1d-7138-49c9-9c26-31f9fa420bdb</vt:lpwstr>
  </property>
  <property fmtid="{D5CDD505-2E9C-101B-9397-08002B2CF9AE}" pid="8" name="MSIP_Label_af9d72c4-8477-49e6-99f9-cf198593d803_ContentBits">
    <vt:lpwstr>0</vt:lpwstr>
  </property>
  <property fmtid="{D5CDD505-2E9C-101B-9397-08002B2CF9AE}" pid="9" name="ContentTypeId">
    <vt:lpwstr>0x010100CC8399F651B66240A076DDB897014D07</vt:lpwstr>
  </property>
  <property fmtid="{D5CDD505-2E9C-101B-9397-08002B2CF9AE}" pid="10" name="MediaServiceImageTags">
    <vt:lpwstr/>
  </property>
  <property fmtid="{D5CDD505-2E9C-101B-9397-08002B2CF9AE}" pid="11" name="ClassificationContentMarkingFooterLocations">
    <vt:lpwstr>마스터-본문:4\1_템플릿:4\4_표지&amp;무지:4\1_마스터-본문:4\3_마스터-본문:5\본문:4</vt:lpwstr>
  </property>
  <property fmtid="{D5CDD505-2E9C-101B-9397-08002B2CF9AE}" pid="12" name="ClassificationContentMarkingFooterText">
    <vt:lpwstr>외부 전송용(No Protection) 조송현 매니저 ICT추진팀 whthd0808@hyundai-wia.com 2025-02-13T13:46:11 본 문서는 현대위아(주)의 정보 자산으로써 무단으로 전제 및 복제할 수 없으며, 이를 위반할 시에는 당사 사규 및 관련 법규에 의해 제재를 받을 수 있습니다.</vt:lpwstr>
  </property>
  <property fmtid="{D5CDD505-2E9C-101B-9397-08002B2CF9AE}" pid="13" name="ClassificationWatermarkLocations">
    <vt:lpwstr>마스터-본문:5\1_템플릿:5\4_표지&amp;무지:5\1_마스터-본문:5\3_마스터-본문:6\본문:5</vt:lpwstr>
  </property>
  <property fmtid="{D5CDD505-2E9C-101B-9397-08002B2CF9AE}" pid="14" name="ClassificationWatermarkText">
    <vt:lpwstr>현대위아 외부 전송용(No Protection) 조송현 매니저 ICT추진팀</vt:lpwstr>
  </property>
</Properties>
</file>