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6cc455bb24cab" /><Relationship Type="http://schemas.openxmlformats.org/officeDocument/2006/relationships/extended-properties" Target="/docProps/app.xml" Id="R63cd7c5577444095" /><Relationship Type="http://schemas.openxmlformats.org/officeDocument/2006/relationships/officeDocument" Target="/ppt/presentation.xml" Id="Rbbd369986cae4b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5bfe3251f48f9"/>
  </p:sldMasterIdLst>
  <p:notesMasterIdLst>
    <p:notesMasterId xmlns:r="http://schemas.openxmlformats.org/officeDocument/2006/relationships" r:id="Ref5f8dbf55c54836"/>
  </p:notesMasterIdLst>
  <p:sldIdLst>
    <p:sldId xmlns:r="http://schemas.openxmlformats.org/officeDocument/2006/relationships" id="256" r:id="R42b1b334ecce44e7"/>
    <p:sldId xmlns:r="http://schemas.openxmlformats.org/officeDocument/2006/relationships" id="257" r:id="R8e5d6ba7990143d7"/>
    <p:sldId xmlns:r="http://schemas.openxmlformats.org/officeDocument/2006/relationships" id="258" r:id="Rb3ca52c3d7cd461e"/>
    <p:sldId xmlns:r="http://schemas.openxmlformats.org/officeDocument/2006/relationships" id="259" r:id="Rc44177d6c7f44665"/>
    <p:sldId xmlns:r="http://schemas.openxmlformats.org/officeDocument/2006/relationships" id="260" r:id="R4b8c18f60b2a45c1"/>
    <p:sldId xmlns:r="http://schemas.openxmlformats.org/officeDocument/2006/relationships" id="261" r:id="Rf44a065edcec4f47"/>
    <p:sldId xmlns:r="http://schemas.openxmlformats.org/officeDocument/2006/relationships" id="262" r:id="Rb4274d4e6dc64eab"/>
    <p:sldId xmlns:r="http://schemas.openxmlformats.org/officeDocument/2006/relationships" id="263" r:id="Rbc57518087854758"/>
    <p:sldId xmlns:r="http://schemas.openxmlformats.org/officeDocument/2006/relationships" id="264" r:id="R7a8705d22a6643ac"/>
    <p:sldId xmlns:r="http://schemas.openxmlformats.org/officeDocument/2006/relationships" id="265" r:id="R6429913e87c34aa1"/>
    <p:sldId xmlns:r="http://schemas.openxmlformats.org/officeDocument/2006/relationships" id="266" r:id="Rcfa17b371ddc40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e618925354bd6" /><Relationship Type="http://schemas.openxmlformats.org/officeDocument/2006/relationships/slideMaster" Target="/ppt/slideMasters/slideMaster1.xml" Id="R9ce5bfe3251f48f9" /><Relationship Type="http://schemas.openxmlformats.org/officeDocument/2006/relationships/notesMaster" Target="/ppt/notesMasters/notesMaster1.xml" Id="Ref5f8dbf55c54836" /><Relationship Type="http://schemas.openxmlformats.org/officeDocument/2006/relationships/presProps" Target="/ppt/presProps.xml" Id="R2188f301543f429e" /><Relationship Type="http://schemas.openxmlformats.org/officeDocument/2006/relationships/tableStyles" Target="/ppt/tableStyles.xml" Id="R236382faf94f4af4" /><Relationship Type="http://schemas.openxmlformats.org/officeDocument/2006/relationships/slide" Target="/ppt/slides/slide1.xml" Id="R42b1b334ecce44e7" /><Relationship Type="http://schemas.openxmlformats.org/officeDocument/2006/relationships/slide" Target="/ppt/slides/slide2.xml" Id="R8e5d6ba7990143d7" /><Relationship Type="http://schemas.openxmlformats.org/officeDocument/2006/relationships/slide" Target="/ppt/slides/slide3.xml" Id="Rb3ca52c3d7cd461e" /><Relationship Type="http://schemas.openxmlformats.org/officeDocument/2006/relationships/slide" Target="/ppt/slides/slide4.xml" Id="Rc44177d6c7f44665" /><Relationship Type="http://schemas.openxmlformats.org/officeDocument/2006/relationships/slide" Target="/ppt/slides/slide5.xml" Id="R4b8c18f60b2a45c1" /><Relationship Type="http://schemas.openxmlformats.org/officeDocument/2006/relationships/slide" Target="/ppt/slides/slide6.xml" Id="Rf44a065edcec4f47" /><Relationship Type="http://schemas.openxmlformats.org/officeDocument/2006/relationships/slide" Target="/ppt/slides/slide7.xml" Id="Rb4274d4e6dc64eab" /><Relationship Type="http://schemas.openxmlformats.org/officeDocument/2006/relationships/slide" Target="/ppt/slides/slide8.xml" Id="Rbc57518087854758" /><Relationship Type="http://schemas.openxmlformats.org/officeDocument/2006/relationships/slide" Target="/ppt/slides/slide9.xml" Id="R7a8705d22a6643ac" /><Relationship Type="http://schemas.openxmlformats.org/officeDocument/2006/relationships/slide" Target="/ppt/slides/slide10.xml" Id="R6429913e87c34aa1" /><Relationship Type="http://schemas.openxmlformats.org/officeDocument/2006/relationships/slide" Target="/ppt/slides/slide11.xml" Id="Rcfa17b371ddc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3ba22ae5e41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688b232e64968" /><Relationship Type="http://schemas.openxmlformats.org/officeDocument/2006/relationships/notesMaster" Target="/ppt/notesMasters/notesMaster1.xml" Id="Rd701100b76cd49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eae59aa03648df" /><Relationship Type="http://schemas.openxmlformats.org/officeDocument/2006/relationships/notesMaster" Target="/ppt/notesMasters/notesMaster1.xml" Id="Rad74ee0b953b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06f661fab549bb" /><Relationship Type="http://schemas.openxmlformats.org/officeDocument/2006/relationships/notesMaster" Target="/ppt/notesMasters/notesMaster1.xml" Id="R15d8a047adfe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9c584293354b9e" /><Relationship Type="http://schemas.openxmlformats.org/officeDocument/2006/relationships/notesMaster" Target="/ppt/notesMasters/notesMaster1.xml" Id="Rb2cda0ac869f45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bae3e71c5e4a03" /><Relationship Type="http://schemas.openxmlformats.org/officeDocument/2006/relationships/notesMaster" Target="/ppt/notesMasters/notesMaster1.xml" Id="Rbace1169d6de45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c22fb5a0524b0a" /><Relationship Type="http://schemas.openxmlformats.org/officeDocument/2006/relationships/notesMaster" Target="/ppt/notesMasters/notesMaster1.xml" Id="R56455f8b77324d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69a1cbed1f4f69" /><Relationship Type="http://schemas.openxmlformats.org/officeDocument/2006/relationships/notesMaster" Target="/ppt/notesMasters/notesMaster1.xml" Id="R242d648df51548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7643b80c3749d9" /><Relationship Type="http://schemas.openxmlformats.org/officeDocument/2006/relationships/notesMaster" Target="/ppt/notesMasters/notesMaster1.xml" Id="Rb6a4e97e3d0e43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37aef388948b0" /><Relationship Type="http://schemas.openxmlformats.org/officeDocument/2006/relationships/notesMaster" Target="/ppt/notesMasters/notesMaster1.xml" Id="Rdee569f4ae1a4e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996c4a74cc421c" /><Relationship Type="http://schemas.openxmlformats.org/officeDocument/2006/relationships/notesMaster" Target="/ppt/notesMasters/notesMaster1.xml" Id="Rb70d6e9be06042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58d9e512d044fd" /><Relationship Type="http://schemas.openxmlformats.org/officeDocument/2006/relationships/notesMaster" Target="/ppt/notesMasters/notesMaster1.xml" Id="Rc16e6b4a53c7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출발점은 기술이 아니라 구매 의사결정입니다. 이 시스템은 과거 견적을 다시 쓸 수 있는 가격 근거로 바꾸고, 신규 견적의 적정성과 구매 목표가를 한 흐름에서 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- 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견적의 특정 행을 바로 확인할 수 있는 실제 화면입니다. 문제의 핵심은 파일이 없다는 것이 아니라, 가격과 근거가 연결되지 않았다는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실제 화면 캡처 · cleansing-original-preview.png (2026-08-11)</a:t>
            </a:r>
          </a:p>
          <a:p xmlns:a="http://schemas.openxmlformats.org/drawingml/2006/main">
            <a:r>
              <a:t>- docs/DATA_QUALITY_AUDIT_2026-08-11.md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사용자는 견적서 한 건과 담당자, 판정 기준만 입력합니다. 시스템은 표준 DB 비교와 목표가 산정을 동일한 접수 흐름에서 수행합니다.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실제 화면 캡처 · analysis-intake.png (2026-08-11)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과정은 무조건 많이 읽는 자동화가 아니라, 가격 기준으로 써도 되는 행과 사람이 확인해야 하는 행을 분리하는 과정이었습니다.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실제 화면 캡처 · cleansing-review.png (2026-08-11)</a:t>
            </a:r>
          </a:p>
          <a:p xmlns:a="http://schemas.openxmlformats.org/drawingml/2006/main">
            <a:r>
              <a:t>- docs/DATA_QUALITY_AUDIT_2026-08-11.md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수치는 현재 로컬 운영 DB와 2026-08-11 인수인계 문서를 기준으로 정리했습니다. 표는 PowerPoint에서 직접 수정할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- docs/DATA_QUALITY_AUDIT_2026-08-11.md</a:t>
            </a:r>
          </a:p>
          <a:p xmlns:a="http://schemas.openxmlformats.org/drawingml/2006/main">
            <a:r>
              <a:t>- 프로젝트 실제 화면 캡처 · standard-db.png (2026-08-11)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표준 품목을 선택하면 가격 범위, 원본 위치, 공급사·제조사 확인 여부, 변경 이력이 함께 보입니다. 임원이 볼 핵심은 가격의 설명 가능성입니다.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실제 화면 캡처 · standard-db-detail.png (2026-08-11)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정제 화면에서 원본 셀을 직접 보고 포함 또는 제외를 결정합니다. 자동화의 범위를 제한하는 것이 데이터 신뢰성의 핵심입니다.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실제 화면 캡처 · cleansing-detail.png (2026-08-11)</a:t>
            </a:r>
          </a:p>
          <a:p xmlns:a="http://schemas.openxmlformats.org/drawingml/2006/main">
            <a:r>
              <a:t>- 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가격 적정성 탭은 사용자가 설정한 임계값으로 고가·적정·저가를 판정합니다. 구매 목표가 탭은 과거 단가를 현재 생산자물가로 보정합니다.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실제 화면 캡처 · analysis-threshold.png (2026-08-11)</a:t>
            </a:r>
          </a:p>
          <a:p xmlns:a="http://schemas.openxmlformats.org/drawingml/2006/main">
            <a:r>
              <a:t>- 프로젝트 실제 화면 캡처 · analysis-target.png (2026-08-11)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예시는 2016년 견적 단가에 2026년 지수와 2016년 지수의 비율을 곱하는 방식입니다. 실제 계산은 견적서에서 날짜가 직접 확인된 근거만 월별로 적용합니다.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https://kosis.kr/statHtml/statHtml.do?orgId=301&amp;tblId=DT_404Y014</a:t>
            </a:r>
          </a:p>
          <a:p xmlns:a="http://schemas.openxmlformats.org/drawingml/2006/main">
            <a:r>
              <a:t>- 사용자 제공 KOSIS 화면 사진 (2026-08-11)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활용 가치는 단순히 빠른 판정이 아니라 협상 근거의 표준화입니다. 효과 수치는 과장하지 않고 실제 파일럿에서 측정합니다.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- 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현재는 로컬에서 시범운영 가능한 단계입니다. 다음 의사결정은 더 많은 기능이 아니라 실제 견적을 통한 KPI 검증입니다.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docs/HANDOFF_2026-08-11.md</a:t>
            </a:r>
          </a:p>
          <a:p xmlns:a="http://schemas.openxmlformats.org/drawingml/2006/main">
            <a:r>
              <a:t>- docs/DATA_QUALITY_AUDIT_2026-08-11.md</a:t>
            </a:r>
          </a:p>
          <a:p xmlns:a="http://schemas.openxmlformats.org/drawingml/2006/main">
            <a:r>
              <a:t>- docs/DECISIONS.md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676cae1d442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bae4613644bea" /><Relationship Type="http://schemas.openxmlformats.org/officeDocument/2006/relationships/slideLayout" Target="/ppt/slideLayouts/slideLayout1.xml" Id="R6ff9f98143f84d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f9f98143f84d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a0dffc8b747cd" /><Relationship Type="http://schemas.openxmlformats.org/officeDocument/2006/relationships/notesSlide" Target="/ppt/notesSlides/notesSlide1.xml" Id="R15a47b3cd43b47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3577247da4328" /><Relationship Type="http://schemas.openxmlformats.org/officeDocument/2006/relationships/image" Target="/ppt/media/image.png" Id="Rdfc51126db9f4b4c" /><Relationship Type="http://schemas.openxmlformats.org/officeDocument/2006/relationships/notesSlide" Target="/ppt/notesSlides/notesSlide2.xml" Id="Rf6a270cf3c65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7214ac8654fb8" /><Relationship Type="http://schemas.openxmlformats.org/officeDocument/2006/relationships/image" Target="/ppt/media/image2.png" Id="Ree8d13160b1641c6" /><Relationship Type="http://schemas.openxmlformats.org/officeDocument/2006/relationships/notesSlide" Target="/ppt/notesSlides/notesSlide3.xml" Id="R430ca79eb1384e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ff709ad144ab8" /><Relationship Type="http://schemas.openxmlformats.org/officeDocument/2006/relationships/image" Target="/ppt/media/image3.png" Id="Rfde1a5520bad4916" /><Relationship Type="http://schemas.openxmlformats.org/officeDocument/2006/relationships/notesSlide" Target="/ppt/notesSlides/notesSlide4.xml" Id="R35708835129840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bac328c534656" /><Relationship Type="http://schemas.openxmlformats.org/officeDocument/2006/relationships/image" Target="/ppt/media/image4.png" Id="Rbd21ae4119b64bd8" /><Relationship Type="http://schemas.openxmlformats.org/officeDocument/2006/relationships/notesSlide" Target="/ppt/notesSlides/notesSlide5.xml" Id="Ra6c4204fa9f440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7a526ca5c4aef" /><Relationship Type="http://schemas.openxmlformats.org/officeDocument/2006/relationships/image" Target="/ppt/media/image5.png" Id="R602042fd394345ba" /><Relationship Type="http://schemas.openxmlformats.org/officeDocument/2006/relationships/notesSlide" Target="/ppt/notesSlides/notesSlide6.xml" Id="R23201afd2d2640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06641957c4aed" /><Relationship Type="http://schemas.openxmlformats.org/officeDocument/2006/relationships/image" Target="/ppt/media/image6.png" Id="Rf6b0a318e5144743" /><Relationship Type="http://schemas.openxmlformats.org/officeDocument/2006/relationships/notesSlide" Target="/ppt/notesSlides/notesSlide7.xml" Id="R41fa9641cfb445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30edb8364900" /><Relationship Type="http://schemas.openxmlformats.org/officeDocument/2006/relationships/image" Target="/ppt/media/image7.png" Id="R759af7d384e2456a" /><Relationship Type="http://schemas.openxmlformats.org/officeDocument/2006/relationships/image" Target="/ppt/media/image8.png" Id="Rcf0d03b51f3f4a21" /><Relationship Type="http://schemas.openxmlformats.org/officeDocument/2006/relationships/notesSlide" Target="/ppt/notesSlides/notesSlide8.xml" Id="R1302aa78bc2e44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43c72d80f4081" /><Relationship Type="http://schemas.openxmlformats.org/officeDocument/2006/relationships/image" Target="/ppt/media/image.jpeg" Id="Re5b734a3e523461b" /><Relationship Type="http://schemas.openxmlformats.org/officeDocument/2006/relationships/notesSlide" Target="/ppt/notesSlides/notesSlide9.xml" Id="R3fe05594f7cc40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6b3b9ff934714" /><Relationship Type="http://schemas.openxmlformats.org/officeDocument/2006/relationships/notesSlide" Target="/ppt/notesSlides/notesSlide10.xml" Id="Rb9dec135868047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2d0f990464e39" /><Relationship Type="http://schemas.openxmlformats.org/officeDocument/2006/relationships/notesSlide" Target="/ppt/notesSlides/notesSlide11.xml" Id="Ra9b77e5015d54e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8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A06D6-9B9D-4DD7-9801-40AA5C75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9C4B-EFF1-4B9E-A370-2A9CA56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custGeom xmlns:a="http://schemas.openxmlformats.org/drawingml/2006/main">
            <a:pathLst>
              <a:path w="4953000" h="6858000">
                <a:moveTo>
                  <a:pt x="1143000" y="0"/>
                </a:moveTo>
                <a:lnTo>
                  <a:pt x="4953000" y="0"/>
                </a:lnTo>
                <a:lnTo>
                  <a:pt x="4953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00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934D3-F424-4809-9F27-6CE1069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C8"/>
                </a:solidFill>
              </a:defRPr>
            </a:pPr>
            <a:r>
              <a:rPr sz="1050" b="1">
                <a:solidFill>
                  <a:srgbClr val="6EE7C8"/>
                </a:solidFill>
              </a:rPr>
              <a:t>PRICE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E650-36B5-4DD5-A5EF-94A77ACB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과거 견적을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구매 의사결정 자산으로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38F37-7A70-4BD3-915E-A82D4E9C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4FF"/>
                </a:solidFill>
              </a:defRPr>
            </a:pPr>
            <a:r>
              <a:rPr sz="1725" b="0">
                <a:solidFill>
                  <a:srgbClr val="D7E4FF"/>
                </a:solidFill>
              </a:rPr>
              <a:t>견적 적정성 분석 · 구매 목표가 제안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5A4F3-28C0-486F-8DAD-2892F7B0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56197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EE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3B690-E36A-44FD-B59E-926A9CC3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4FF"/>
                </a:solidFill>
              </a:defRPr>
            </a:pPr>
            <a:r>
              <a:rPr sz="1125" b="0">
                <a:solidFill>
                  <a:srgbClr val="D7E4FF"/>
                </a:solidFill>
              </a:rPr>
              <a:t>임원 보고  |  2026. 08. 11  |  로컬 시범운영 단계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995CB-E608-4C27-A1F0-176A6CF1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E7C8"/>
                </a:solidFill>
              </a:defRPr>
            </a:pPr>
            <a:r>
              <a:rPr sz="975" b="1">
                <a:solidFill>
                  <a:srgbClr val="6EE7C8"/>
                </a:solidFill>
              </a:rPr>
              <a:t>핵심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28153-4003-4BCD-93E6-D4C7165A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비싼가?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E66AB-5B1F-439C-940F-61A8170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얼마에 사야 하는가?</a:t>
            </a:r>
          </a:p>
        </p:txBody>
      </p:sp>
    </p:spTree>
    <p:extLst>
      <p:ext uri="{BB962C8B-B14F-4D97-AF65-F5344CB8AC3E}">
        <p14:creationId xmlns:p14="http://schemas.microsoft.com/office/powerpoint/2010/main" val="439296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C5B69-CA65-4936-971B-43EEF4C4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01 · 문제와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DB237-F405-409A-89C4-9BDBCC27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견적 검토의 문제는 ‘가격’보다 ‘근거의 단절’입니다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1B3F0-26EC-44F0-AE18-39DA4CA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608E3-9B63-4B50-A8B1-5DCA4BD3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9CE"/>
                </a:solidFill>
              </a:defRPr>
            </a:pPr>
            <a:r>
              <a:rPr sz="975" b="1">
                <a:solidFill>
                  <a:srgbClr val="00A9C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CA2B1-1388-4AB8-A06C-CB574810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A"/>
                </a:solidFill>
              </a:defRPr>
            </a:pPr>
            <a:r>
              <a:rPr sz="1575" b="1">
                <a:solidFill>
                  <a:srgbClr val="15213A"/>
                </a:solidFill>
              </a:rPr>
              <a:t>과거 견적이 파일마다 흩어져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B2DC0-7B0B-4274-902E-CFA0ABE9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8D"/>
                </a:solidFill>
              </a:defRPr>
            </a:pPr>
            <a:r>
              <a:rPr sz="1125" b="0">
                <a:solidFill>
                  <a:srgbClr val="66748D"/>
                </a:solidFill>
              </a:rPr>
              <a:t>같은 품목을 다시 찾아 비교하기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54214-207D-42BE-8863-6B0D785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9CE"/>
                </a:solidFill>
              </a:defRPr>
            </a:pPr>
            <a:r>
              <a:rPr sz="975" b="1">
                <a:solidFill>
                  <a:srgbClr val="00A9CE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D1647-9679-4B20-9678-8196B258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A"/>
                </a:solidFill>
              </a:defRPr>
            </a:pPr>
            <a:r>
              <a:rPr sz="1575" b="1">
                <a:solidFill>
                  <a:srgbClr val="15213A"/>
                </a:solidFill>
              </a:rPr>
              <a:t>담당자마다 비교 기준이 달라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C1BA7-9DEF-4DEB-B831-CBD5F149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8D"/>
                </a:solidFill>
              </a:defRPr>
            </a:pPr>
            <a:r>
              <a:rPr sz="1125" b="0">
                <a:solidFill>
                  <a:srgbClr val="66748D"/>
                </a:solidFill>
              </a:rPr>
              <a:t>판정 결과와 설명 방식이 일관되지 않습니다.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8AC9A-B5BE-4AC8-8CA9-D05EC3B1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9CE"/>
                </a:solidFill>
              </a:defRPr>
            </a:pPr>
            <a:r>
              <a:rPr sz="975" b="1">
                <a:solidFill>
                  <a:srgbClr val="00A9CE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9F759-4B06-42B1-9CB0-4BA6F53F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A"/>
                </a:solidFill>
              </a:defRPr>
            </a:pPr>
            <a:r>
              <a:rPr sz="1575" b="1">
                <a:solidFill>
                  <a:srgbClr val="15213A"/>
                </a:solidFill>
              </a:rPr>
              <a:t>오래된 가격은 현재 가치와 달라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C3181-E889-477B-842A-D25082E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148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8D"/>
                </a:solidFill>
              </a:defRPr>
            </a:pPr>
            <a:r>
              <a:rPr sz="1125" b="0">
                <a:solidFill>
                  <a:srgbClr val="66748D"/>
                </a:solidFill>
              </a:rPr>
              <a:t>2016년 단가를 2026년에 그대로 쓸 수 없습니다.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0C3B5-92FF-46D7-B08D-E4060F71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2125"/>
            <a:ext cx="54864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51126db9f4b4c"/>
          <a:stretch xmlns:a="http://schemas.openxmlformats.org/drawingml/2006/main"/>
        </p:blipFill>
        <p:spPr>
          <a:xfrm xmlns:a="http://schemas.openxmlformats.org/drawingml/2006/main">
            <a:off x="5753100" y="2345691"/>
            <a:ext cx="5391150" cy="1309367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4219F-C4E4-4A98-9D18-07F153C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4673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9AC37-E634-4C2D-8429-1F36C4B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86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87A"/>
                </a:solidFill>
              </a:defRPr>
            </a:pPr>
            <a:r>
              <a:rPr sz="1050" b="1">
                <a:solidFill>
                  <a:srgbClr val="00287A"/>
                </a:solidFill>
              </a:rPr>
              <a:t>따라서 필요한 것은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1B019-F8B9-4D31-AA7B-AA815E34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13A"/>
                </a:solidFill>
              </a:defRPr>
            </a:pPr>
            <a:r>
              <a:rPr sz="1725" b="1">
                <a:solidFill>
                  <a:srgbClr val="15213A"/>
                </a:solidFill>
              </a:rPr>
              <a:t>가격 숫자 + 원본 위치 + 판단 기준을</a:t>
            </a:r>
          </a:p>
          <a:p xmlns:a="http://schemas.openxmlformats.org/drawingml/2006/main">
            <a:pPr algn="l">
              <a:defRPr sz="1725" b="1">
                <a:solidFill>
                  <a:srgbClr val="15213A"/>
                </a:solidFill>
              </a:defRPr>
            </a:pPr>
            <a:r>
              <a:rPr sz="1725" b="1">
                <a:solidFill>
                  <a:srgbClr val="15213A"/>
                </a:solidFill>
              </a:rPr>
              <a:t>함께 남기는 구매 의사결정 체계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73775-1F89-4697-9920-050F1DDD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CC3EA-9219-41B8-A96A-0E5A720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BEBD2-9173-4494-9C16-3BA09523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8018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5C854-FEF7-4B60-9CBC-A7248119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02 · 프로젝트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72060-BD97-4BB8-B425-1A6900E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견적서를 올리면 세 가지 답을 한 번에 제공합니다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E4255-8395-4AC1-B2E9-5436D531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39A6C-8B9B-431D-8ABC-CEC6C566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8595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06949-BDA6-43C6-974F-177939BF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49F1F-191E-409C-BA78-925C7AB7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956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96034-3559-4924-BF19-DDC9BE5F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CE"/>
                </a:solidFill>
              </a:defRPr>
            </a:pPr>
            <a:r>
              <a:rPr sz="900" b="1">
                <a:solidFill>
                  <a:srgbClr val="00A9C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C6708-B1A2-454B-AA44-DB57C970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13A"/>
                </a:solidFill>
              </a:defRPr>
            </a:pPr>
            <a:r>
              <a:rPr sz="1500" b="1">
                <a:solidFill>
                  <a:srgbClr val="15213A"/>
                </a:solidFill>
              </a:rPr>
              <a:t>과거 가격 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B3B1F-A3B6-4D51-95C3-3C73B83F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8D"/>
                </a:solidFill>
              </a:defRPr>
            </a:pPr>
            <a:r>
              <a:rPr sz="975" b="0">
                <a:solidFill>
                  <a:srgbClr val="66748D"/>
                </a:solidFill>
              </a:rPr>
              <a:t>표준 DB 매칭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A7546-F0FE-40C0-81CE-9D46FF2C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28956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2B535-8EB5-467F-B313-2491B02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E7C8"/>
                </a:solidFill>
              </a:defRPr>
            </a:pPr>
            <a:r>
              <a:rPr sz="900" b="1">
                <a:solidFill>
                  <a:srgbClr val="6EE7C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5CD28-CAC7-4954-AB26-128B61EC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비싼지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5169A-E0C1-4993-991B-9D629B06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4FF"/>
                </a:solidFill>
              </a:defRPr>
            </a:pPr>
            <a:r>
              <a:rPr sz="975" b="0">
                <a:solidFill>
                  <a:srgbClr val="D7E4FF"/>
                </a:solidFill>
              </a:rPr>
              <a:t>적정 · 주의 · 고가 · 저가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0DC41-7FBA-4A84-9824-CBE05CA5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38300"/>
            <a:ext cx="28956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6EE10-9F4C-4804-A6F4-9B0F435A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907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CE"/>
                </a:solidFill>
              </a:defRPr>
            </a:pPr>
            <a:r>
              <a:rPr sz="900" b="1">
                <a:solidFill>
                  <a:srgbClr val="00A9C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2C333-5FF3-4C6F-812B-EFAF1C71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13A"/>
                </a:solidFill>
              </a:defRPr>
            </a:pPr>
            <a:r>
              <a:rPr sz="1500" b="1">
                <a:solidFill>
                  <a:srgbClr val="15213A"/>
                </a:solidFill>
              </a:rPr>
              <a:t>살 가격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565FA-B5AB-489A-87F9-D2FACF5D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8D"/>
                </a:solidFill>
              </a:defRPr>
            </a:pPr>
            <a:r>
              <a:rPr sz="975" b="0">
                <a:solidFill>
                  <a:srgbClr val="66748D"/>
                </a:solidFill>
              </a:rPr>
              <a:t>물가 반영 구매 목표가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33172-BE27-47A3-A5D9-E2973D77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1030605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d13160b1641c6"/>
          <a:srcRect xmlns:a="http://schemas.openxmlformats.org/drawingml/2006/main" l="0" t="22803" r="0" b="22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2857500"/>
            <a:ext cx="10210800" cy="3124200"/>
          </a:xfrm>
          <a:prstGeom xmlns:a="http://schemas.openxmlformats.org/drawingml/2006/main" prst="roundRect">
            <a:avLst>
              <a:gd name="adj" fmla="val 3049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B1213-827C-4C86-A558-8B69D5FC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E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6C30A-0D0F-4386-BA15-DAB85BEC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1B55"/>
                </a:solidFill>
              </a:defRPr>
            </a:pPr>
            <a:r>
              <a:rPr sz="975" b="1">
                <a:solidFill>
                  <a:srgbClr val="001B55"/>
                </a:solidFill>
              </a:rPr>
              <a:t>실제 화면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CF9C6-4841-4C87-9D03-5323D00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83BB9-F150-4FD8-96D7-93521C9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89A19-679F-4908-9E5E-33DF10B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6846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842FDF-70D5-41F0-83F7-4C13F585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03 · 개발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00D22-AE1B-4294-8795-76DB4D71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자동화보다 ‘신뢰 가능한 근거’를 먼저 만들었습니다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3E23D-7986-4EA5-ACA9-6BFD815D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4EF7C-71DC-471F-BA47-66AFCB93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383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8D15C-44E9-4CAC-A105-95F59D3A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383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D59C4-C4BB-4125-9EC2-0F5A626B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383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665A3-0CD3-4254-AA15-7611176A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383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E3220-00A0-4FD0-A72A-9899024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C21BE-0BC6-4E23-AEB3-463D254B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9CE"/>
                </a:solidFill>
              </a:defRPr>
            </a:pPr>
            <a:r>
              <a:rPr sz="825" b="1">
                <a:solidFill>
                  <a:srgbClr val="00A9C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C5134-9D33-4EB7-A38E-167416F7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원본 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15755-F47F-4EEF-89A3-04AB88C8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3830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79056-C50A-4A1A-A448-7C5BB3BE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811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9CE"/>
                </a:solidFill>
              </a:defRPr>
            </a:pPr>
            <a:r>
              <a:rPr sz="825" b="1">
                <a:solidFill>
                  <a:srgbClr val="00A9C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32AEE-5C0E-4558-973F-F370FC3A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335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품목 추출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C3565-5BED-473E-82F9-14201A22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03190-0FE1-41C0-A8C3-1917F40E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811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9CE"/>
                </a:solidFill>
              </a:defRPr>
            </a:pPr>
            <a:r>
              <a:rPr sz="825" b="1">
                <a:solidFill>
                  <a:srgbClr val="00A9C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3B047-414B-42A8-9ACD-2D055C6D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검토·정제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931F2-6F94-4A94-97D1-172C1E7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3830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03B65-639F-4652-A61C-D62C32E9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7811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9CE"/>
                </a:solidFill>
              </a:defRPr>
            </a:pPr>
            <a:r>
              <a:rPr sz="825" b="1">
                <a:solidFill>
                  <a:srgbClr val="00A9CE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98876-216E-45F7-9E68-BB55ECB7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335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표준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2CC1E-9694-4C46-A163-DBEA686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3830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9A205-6724-4089-B31E-2AD0BF5A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811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E7C8"/>
                </a:solidFill>
              </a:defRPr>
            </a:pPr>
            <a:r>
              <a:rPr sz="825" b="1">
                <a:solidFill>
                  <a:srgbClr val="6EE7C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09C28-692C-4818-A231-4E474550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335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신규 견적 분석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29694-D9AC-4E54-A1F2-EE3D52DC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00325"/>
            <a:ext cx="7334250" cy="3486150"/>
          </a:xfrm>
          <a:prstGeom xmlns:a="http://schemas.openxmlformats.org/drawingml/2006/main" prst="roundRect">
            <a:avLst>
              <a:gd name="adj" fmla="val 3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1a5520bad4916"/>
          <a:srcRect xmlns:a="http://schemas.openxmlformats.org/drawingml/2006/main" l="0" t="8363" r="0" b="8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647950"/>
            <a:ext cx="7239000" cy="3390900"/>
          </a:xfrm>
          <a:prstGeom xmlns:a="http://schemas.openxmlformats.org/drawingml/2006/main" prst="roundRect">
            <a:avLst>
              <a:gd name="adj" fmla="val 2809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64868-70A0-4F7F-B5A0-BE6D45E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295650" cy="3314700"/>
          </a:xfrm>
          <a:prstGeom xmlns:a="http://schemas.openxmlformats.org/drawingml/2006/main" prst="roundRect">
            <a:avLst>
              <a:gd name="adj" fmla="val 404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56200-F1B7-4E6C-A5CC-5301FD8E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87A"/>
                </a:solidFill>
              </a:defRPr>
            </a:pPr>
            <a:r>
              <a:rPr sz="1350" b="1">
                <a:solidFill>
                  <a:srgbClr val="00287A"/>
                </a:solidFill>
              </a:rPr>
              <a:t>개발 원칙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FC052-7740-43E8-AEF7-DC11D5C7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AA013-F92B-48AD-8D8F-471466C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0995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2EA368-F3AF-44D9-8A75-7016BD7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623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34D"/>
                </a:solidFill>
              </a:defRPr>
            </a:pPr>
            <a:r>
              <a:rPr sz="1200" b="0">
                <a:solidFill>
                  <a:srgbClr val="26334D"/>
                </a:solidFill>
              </a:rPr>
              <a:t>원본 파일은 그대로 보존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33F1E5-16A0-4BCD-AD6A-67AEDDE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191DE-2FA1-4A57-B18E-B8B4AA49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6240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24E59-F0FE-4517-BD90-D8FFA302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147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34D"/>
                </a:solidFill>
              </a:defRPr>
            </a:pPr>
            <a:r>
              <a:rPr sz="1200" b="0">
                <a:solidFill>
                  <a:srgbClr val="26334D"/>
                </a:solidFill>
              </a:rPr>
              <a:t>확실한 값만 자동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8CD5F7-2B77-45A7-9197-0431F02A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3E75AD-D6EA-410D-AB26-370AACEC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1485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1AEA6-6507-4B18-97FF-B4F81F47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672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34D"/>
                </a:solidFill>
              </a:defRPr>
            </a:pPr>
            <a:r>
              <a:rPr sz="1200" b="0">
                <a:solidFill>
                  <a:srgbClr val="26334D"/>
                </a:solidFill>
              </a:rPr>
              <a:t>애매한 값은 검토 대기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A5586C-2230-4D2C-B423-3C22556D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86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A39CBB-2EB1-4AF2-BA25-A82D37B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06730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7C0CE2-39DF-4783-83A9-1ECCB61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196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34D"/>
                </a:solidFill>
              </a:defRPr>
            </a:pPr>
            <a:r>
              <a:rPr sz="1200" b="0">
                <a:solidFill>
                  <a:srgbClr val="26334D"/>
                </a:solidFill>
              </a:rPr>
              <a:t>모든 가격은 원본으로 역추적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43774A-FE8C-4B3C-8C9C-12B4091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E34DBD-DA08-4C69-875E-20335770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C8869-85B9-4FCF-9689-E5FA27B7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6115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56D59-5533-4C86-99BD-5549A43D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04 · 구현 규모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E7A8A-D548-420F-B126-785019D9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과거 견적이 검색 가능한 가격 기준으로 전환됐습니다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50AEB-4F80-4745-A2BC-2F37F34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54673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143000"/>
                <a:gridCol w="2857500"/>
              </a:tblGrid>
              <a:tr h="43815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현재 규모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의미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원본 품목행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287A"/>
                          </a:solidFill>
                        </a:rPr>
                        <a:t>55,866개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견적서에서 읽어낸 품목 기록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표준 품목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287A"/>
                          </a:solidFill>
                        </a:rPr>
                        <a:t>7,092개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품명·규격·단위별 가격 기준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가격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287A"/>
                          </a:solidFill>
                        </a:rPr>
                        <a:t>20,277건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표준단가를 만든 원본 관측값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날짜 있는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287A"/>
                          </a:solidFill>
                        </a:rPr>
                        <a:t>15,632건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물가 보정에 활용 가능한 후보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검토 대기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287A"/>
                          </a:solidFill>
                        </a:rPr>
                        <a:t>7,755건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자동 반영하지 않은 안전 구간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595C2-C282-4D45-8839-16B8425A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85925"/>
            <a:ext cx="5257800" cy="3524250"/>
          </a:xfrm>
          <a:prstGeom xmlns:a="http://schemas.openxmlformats.org/drawingml/2006/main" prst="roundRect">
            <a:avLst>
              <a:gd name="adj" fmla="val 3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1ae4119b64bd8"/>
          <a:srcRect xmlns:a="http://schemas.openxmlformats.org/drawingml/2006/main" l="7656" t="0" r="76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733550"/>
            <a:ext cx="5162550" cy="34290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ED2D6-34A0-4A67-8F2E-400AC99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51625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1D0D6-F551-4797-9236-AEAC163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245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핵심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F1BD6-4C09-438C-AA2F-CB09DA55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673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13A"/>
                </a:solidFill>
              </a:defRPr>
            </a:pPr>
            <a:r>
              <a:rPr sz="1200" b="1">
                <a:solidFill>
                  <a:srgbClr val="15213A"/>
                </a:solidFill>
              </a:rPr>
              <a:t>초창기 엑셀을 복사한 것이 아니라 원본 견적에서 다시 구축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50AD1-B03B-45E1-97F0-D592D54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AFFB1-5CA9-4968-B806-31D40B8A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31BBD-4BEC-4A5E-8E77-DC303AB2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194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35397-1082-4AF0-8EF8-AC1AEE7A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05 · 구현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86B3F-985E-45B3-AC57-6768304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표준 DB는 숫자만 저장하지 않고 원본까지 역추적합니다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3020D-6537-45F5-B12A-4D859790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C1C6-2665-4508-B812-C8628B9C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28775"/>
            <a:ext cx="7334250" cy="419100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042fd394345ba"/>
          <a:stretch xmlns:a="http://schemas.openxmlformats.org/drawingml/2006/main"/>
        </p:blipFill>
        <p:spPr>
          <a:xfrm xmlns:a="http://schemas.openxmlformats.org/drawingml/2006/main">
            <a:off x="533400" y="1905685"/>
            <a:ext cx="7239000" cy="3637181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15138-CE84-4A41-B17E-AC02413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ED74D-AE5D-4F46-B0E1-CEA8BDCF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CC3DF-69A6-4E31-B6F6-394482D7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335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가격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63B9D-ADEB-4C0F-A250-30B39FFF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최저 · 중앙값 · 평균 · 최고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37539-6482-4DF3-AE84-5A6DEB93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7EE7B-98F8-4C41-9CDB-B992622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B899E-DEC2-4114-A469-C597D67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908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9CE"/>
                </a:solidFill>
              </a:defRPr>
            </a:pPr>
            <a:r>
              <a:rPr sz="975" b="1">
                <a:solidFill>
                  <a:srgbClr val="00A9CE"/>
                </a:solidFill>
              </a:rPr>
              <a:t>원본 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DBDF9-D93C-407F-A1EA-4F83219D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견적일 · 파일 · 시트 · 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84D12-2E73-4693-BB8E-E25EB33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0D615-9D0A-4285-B31F-B7479F30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5DB37-444D-4CED-A3BE-798BB70E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481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7A62"/>
                </a:solidFill>
              </a:defRPr>
            </a:pPr>
            <a:r>
              <a:rPr sz="975" b="1">
                <a:solidFill>
                  <a:srgbClr val="0A7A62"/>
                </a:solidFill>
              </a:rPr>
              <a:t>감사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E5980-B68A-40D2-AAE4-165C2DEE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96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표준단가가 바뀐 시점과 근거 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C7CB2-CC41-4C00-AF59-E20E3F96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95950"/>
            <a:ext cx="331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87A"/>
                </a:solidFill>
              </a:defRPr>
            </a:pPr>
            <a:r>
              <a:rPr sz="1200" b="1">
                <a:solidFill>
                  <a:srgbClr val="00287A"/>
                </a:solidFill>
              </a:rPr>
              <a:t>결과: 담당자가 ‘왜 이 가격인가’를 바로 설명할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DD9B6-4E70-49AC-AD3A-95F37F72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26DAD-AAB8-4478-AF0D-DEF89753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5A2CD-B9CE-406D-AE6A-4B8322E9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4160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83CD0-03E4-456D-84E3-DB2EAD1A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06 · 통제와 신뢰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99F0A-C471-4AC8-9FC6-CA06C8EF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애매한 값은 자동 가격 기준에서 제외하고 사람이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C80F0-0327-4631-AAD1-5452A4DD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84466-7826-46A4-B083-0401BBC2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09725"/>
            <a:ext cx="6667500" cy="419100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0a318e5144743"/>
          <a:srcRect xmlns:a="http://schemas.openxmlformats.org/drawingml/2006/main" l="0" t="10133" r="0" b="10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57350"/>
            <a:ext cx="6572250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graphicFrame>
        <p:nvGraphicFramePr>
          <p:cNvPr id="18" name=""/>
          <p:cNvGraphicFramePr/>
          <p:nvPr/>
        </p:nvGraphicFramePr>
        <p:xfrm>
          <a:off xmlns:a="http://schemas.openxmlformats.org/drawingml/2006/main" x="7467600" y="1809750"/>
          <a:ext xmlns:a="http://schemas.openxmlformats.org/drawingml/2006/main" cx="40386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8700"/>
                <a:gridCol w="1028700"/>
                <a:gridCol w="1981200"/>
              </a:tblGrid>
              <a:tr h="419100">
                <a:tc>
                  <a:txBody>
                    <a:bodyPr/>
                    <a:lstStyle/>
                    <a:p>
                      <a:r>
                        <a:t>데이터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시스템 처리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운영 의미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확실함</a:t>
                      </a:r>
                    </a:p>
                  </a:txBody>
                  <a:tcPr marL="91440" marR="91440" marT="45720" marB="45720">
                    <a:solidFill>
                      <a:srgbClr val="E4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7A62"/>
                          </a:solidFill>
                        </a:rPr>
                        <a:t>자동 반영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표준 가격 근거로 사용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애매함</a:t>
                      </a:r>
                    </a:p>
                  </a:txBody>
                  <a:tcPr marL="91440" marR="91440" marT="45720" marB="45720">
                    <a:solidFill>
                      <a:srgbClr val="FF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66A00"/>
                          </a:solidFill>
                        </a:rPr>
                        <a:t>검토 대기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담당자가 원본 확인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근거 없음</a:t>
                      </a:r>
                    </a:p>
                  </a:txBody>
                  <a:tcPr marL="91440" marR="91440" marT="45720" marB="45720">
                    <a:solidFill>
                      <a:srgbClr val="FCE7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53A42"/>
                          </a:solidFill>
                        </a:rPr>
                        <a:t>판정 제외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가격을 임의로 만들지 않음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5149E-A8A7-45B8-9AF5-88BAC205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57700"/>
            <a:ext cx="40386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5DB7A-EC7A-487C-AC0F-DEBBD40E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29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E7C8"/>
                </a:solidFill>
              </a:defRPr>
            </a:pPr>
            <a:r>
              <a:rPr sz="975" b="1">
                <a:solidFill>
                  <a:srgbClr val="6EE7C8"/>
                </a:solidFill>
              </a:rPr>
              <a:t>안전 장치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19D32-9996-4DA2-BDEB-3319C2F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5300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모르는 가격을 추정해 채우지 않고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‘판정 대기’로 명확히 남깁니다.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B0012-25C4-44BE-B943-8AE62079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5D65A-2B04-4680-89EF-669DFD62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7059D-C52C-4A97-AE82-B668285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8562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350E3-280C-4811-B087-AD96DFAC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07 · 신규 견적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2AE81-8063-47D6-8AED-4CF9033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신규 견적 한 건으로 두 가지 결과를 제공합니다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04390-8376-40A4-AF1A-A49706F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E2CE4-659A-4001-87C3-A23C7226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F55DE-4FDE-4FB6-80FB-DC04B50F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① 가격 적정성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20096-C332-4898-8071-6354F08F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9142-2C39-4600-89ED-6237C58C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28775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② 구매 목표가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4ECC2-88DB-49F8-AC46-77B2DE7C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71675"/>
            <a:ext cx="5486400" cy="2705100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af7d384e2456a"/>
          <a:srcRect xmlns:a="http://schemas.openxmlformats.org/drawingml/2006/main" l="0" t="6969" r="0" b="6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19300"/>
            <a:ext cx="5391150" cy="2609850"/>
          </a:xfrm>
          <a:prstGeom xmlns:a="http://schemas.openxmlformats.org/drawingml/2006/main" prst="roundRect">
            <a:avLst>
              <a:gd name="adj" fmla="val 365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5628E-8724-427A-B039-43AC0393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71675"/>
            <a:ext cx="5486400" cy="2705100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d03b51f3f4a21"/>
          <a:srcRect xmlns:a="http://schemas.openxmlformats.org/drawingml/2006/main" l="0" t="6969" r="0" b="6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019300"/>
            <a:ext cx="5391150" cy="2609850"/>
          </a:xfrm>
          <a:prstGeom xmlns:a="http://schemas.openxmlformats.org/drawingml/2006/main" prst="roundRect">
            <a:avLst>
              <a:gd name="adj" fmla="val 3650"/>
            </a:avLst>
          </a:prstGeom>
        </p:spPr>
      </p:pic>
      <p:graphicFrame>
        <p:nvGraphicFramePr>
          <p:cNvPr id="27" name=""/>
          <p:cNvGraphicFramePr/>
          <p:nvPr/>
        </p:nvGraphicFramePr>
        <p:xfrm>
          <a:off xmlns:a="http://schemas.openxmlformats.org/drawingml/2006/main" x="1352550" y="4953000"/>
          <a:ext xmlns:a="http://schemas.openxmlformats.org/drawingml/2006/main" cx="9486900" cy="110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48615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t>업무 질문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판단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결과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이 견적은 비싼가?</a:t>
                      </a:r>
                    </a:p>
                  </a:txBody>
                  <a:tcPr marL="91440" marR="91440" marT="45720" marB="45720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표준 중앙값 + 설정 임계값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적정 · 주의 · 고가 · 저가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얼마에 사야 하는가?</a:t>
                      </a:r>
                    </a:p>
                  </a:txBody>
                  <a:tcPr marL="91440" marR="91440" marT="45720" marB="45720">
                    <a:solidFill>
                      <a:srgbClr val="E4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과거 단가를 현재 물가로 보정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항목별 목표가 · 목표 총액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96A8A-51AD-4063-861B-BEFE4A9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E0BE7-1429-4774-8A45-22C428DF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3D0AC-69CA-483D-BA8C-96494460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76442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8B363-F52C-40D7-8C0C-43174242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08 · 구매 목표가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7061F-E700-48CE-A270-234542D2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2016년 가격을 2026년 가치로 환산해 구매 목표가를 제시합니다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52AE2-A18F-4BDE-800D-D6C2071D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F642F-24F5-4116-8477-5BE2003F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8102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B8CAA-65B8-4676-B19C-0A0E97C7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과거 원본 단가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FF64-E924-4BF1-95AD-1BE791D1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145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9CE"/>
                </a:solidFill>
              </a:defRPr>
            </a:pPr>
            <a:r>
              <a:rPr sz="1950" b="1">
                <a:solidFill>
                  <a:srgbClr val="00A9CE"/>
                </a:solidFill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6BA62-5A95-489F-8BF4-728218BE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28800"/>
            <a:ext cx="2952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FB75C-8AAD-4B3B-8D83-455C278C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85950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287A"/>
                </a:solidFill>
              </a:defRPr>
            </a:pPr>
            <a:r>
              <a:rPr sz="1125" b="1">
                <a:solidFill>
                  <a:srgbClr val="00287A"/>
                </a:solidFill>
              </a:rPr>
              <a:t>2026년 생산자물가지수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D760E-3358-47EB-92FF-A5ED8993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33600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48D"/>
                </a:solidFill>
              </a:defRPr>
            </a:pPr>
            <a:r>
              <a:rPr sz="1125" b="0">
                <a:solidFill>
                  <a:srgbClr val="66748D"/>
                </a:solidFill>
              </a:rPr>
              <a:t>2016년 생산자물가지수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F9C99-B3EF-423D-892B-10B1A2E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145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8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3B40E-6A79-4CF2-848A-0BC124FA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9CE"/>
                </a:solidFill>
              </a:defRPr>
            </a:pPr>
            <a:r>
              <a:rPr sz="2100" b="1">
                <a:solidFill>
                  <a:srgbClr val="00A9CE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3F18E-6AC6-4F7B-BCE5-B449ADEE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87A"/>
                </a:solidFill>
              </a:defRPr>
            </a:pPr>
            <a:r>
              <a:rPr sz="1650" b="1">
                <a:solidFill>
                  <a:srgbClr val="00287A"/>
                </a:solidFill>
              </a:rPr>
              <a:t>보정 단가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344DE-76AB-4D26-AE28-1FCEE9ED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34D"/>
                </a:solidFill>
              </a:defRPr>
            </a:pPr>
            <a:r>
              <a:rPr sz="1125" b="0">
                <a:solidFill>
                  <a:srgbClr val="26334D"/>
                </a:solidFill>
              </a:rPr>
              <a:t>여러 과거 근거를 각각 보정한 뒤 중앙값을 구매 목표가로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6EF69-9593-4DEF-9672-DEFC8CF6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628775"/>
            <a:ext cx="4953000" cy="281940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734a3e523461b"/>
          <a:srcRect xmlns:a="http://schemas.openxmlformats.org/drawingml/2006/main" l="0" t="12614" r="0" b="12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676400"/>
            <a:ext cx="485775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graphicFrame>
        <p:nvGraphicFramePr>
          <p:cNvPr id="35" name=""/>
          <p:cNvGraphicFramePr/>
          <p:nvPr/>
        </p:nvGraphicFramePr>
        <p:xfrm>
          <a:off xmlns:a="http://schemas.openxmlformats.org/drawingml/2006/main" x="990600" y="4648200"/>
          <a:ext xmlns:a="http://schemas.openxmlformats.org/drawingml/2006/main" cx="102108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429000"/>
                <a:gridCol w="5067300"/>
              </a:tblGrid>
              <a:tr h="3810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출처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적용 방식</a:t>
                      </a:r>
                    </a:p>
                  </a:txBody>
                  <a:tcPr marL="91440" marR="91440" marT="45720" marB="45720"/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물가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KOSIS 생산자물가지수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기준월→현재월 지수 비율</a:t>
                      </a:r>
                    </a:p>
                  </a:txBody>
                  <a:tcPr marL="91440" marR="91440" marT="45720" marB="45720"/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현재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2026년 6월 · 130.03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2020년=100 공식 월별 지수</a:t>
                      </a:r>
                    </a:p>
                  </a:txBody>
                  <a:tcPr marL="91440" marR="91440" marT="45720" marB="45720"/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213A"/>
                          </a:solidFill>
                        </a:rPr>
                        <a:t>대표값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연결된 과거 견적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보정 단가의 중앙값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B2861-9964-483C-A36F-714221D2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5148F-0DC7-47C9-ABED-7FC375AD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6193C-6DD1-42BD-8167-7FC889DA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9364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B1A3E-19C4-4163-92FD-9BAF3704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09 · 활용성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66A4C-9016-43B9-8C7A-54ACE81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검토 속도보다 ‘협상 가능한 근거’를 만드는 시스템입니다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0C480-0FDE-4E07-9A52-85FD9F5B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02B86-10A3-4E3C-A9B9-506C668E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6860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9C8B4-3816-4C35-8758-9FB1D2B3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9CE"/>
                </a:solidFill>
              </a:defRPr>
            </a:pPr>
            <a:r>
              <a:rPr sz="825" b="1">
                <a:solidFill>
                  <a:srgbClr val="00A9C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9A637-858D-42BD-85A1-102B59C8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0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검토시간 단축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5775C-6A81-4604-8831-7044281B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8D"/>
                </a:solidFill>
              </a:defRPr>
            </a:pPr>
            <a:r>
              <a:rPr sz="1050" b="0">
                <a:solidFill>
                  <a:srgbClr val="66748D"/>
                </a:solidFill>
              </a:rPr>
              <a:t>비교 자료를 찾는 시간을 줄임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D1743-61DF-47D9-9A43-941F55F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76400"/>
            <a:ext cx="26860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960FD-E663-4084-A158-E53B7341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28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9CE"/>
                </a:solidFill>
              </a:defRPr>
            </a:pPr>
            <a:r>
              <a:rPr sz="825" b="1">
                <a:solidFill>
                  <a:srgbClr val="00A9C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4B947-8865-43CC-9D8E-F1211A2C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00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담당자 편차 축소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97D4E-31EE-464D-A965-07B37A7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002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8D"/>
                </a:solidFill>
              </a:defRPr>
            </a:pPr>
            <a:r>
              <a:rPr sz="1050" b="0">
                <a:solidFill>
                  <a:srgbClr val="66748D"/>
                </a:solidFill>
              </a:rPr>
              <a:t>동일 기준과 임계값으로 판정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ECDEA-05D1-4CCF-AFBA-CE57416E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6860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80530-9C76-4A81-B135-927350A7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E7C8"/>
                </a:solidFill>
              </a:defRPr>
            </a:pPr>
            <a:r>
              <a:rPr sz="825" b="1">
                <a:solidFill>
                  <a:srgbClr val="6EE7C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1FDC3-35F6-4241-932C-FE0ABA3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협상 근거 표준화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AF517-9280-4770-BD9E-FC5FE24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F"/>
                </a:solidFill>
              </a:defRPr>
            </a:pPr>
            <a:r>
              <a:rPr sz="1050" b="0">
                <a:solidFill>
                  <a:srgbClr val="D7E4FF"/>
                </a:solidFill>
              </a:rPr>
              <a:t>목표가와 원본 근거를 함께 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706E9-266E-4376-8BA8-6D077E52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26860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6DDDD-E51C-40DD-8FD4-47C54559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9CE"/>
                </a:solidFill>
              </a:defRPr>
            </a:pPr>
            <a:r>
              <a:rPr sz="825" b="1">
                <a:solidFill>
                  <a:srgbClr val="00A9CE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4839D-ADC3-4D19-931D-008F522F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76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13A"/>
                </a:solidFill>
              </a:defRPr>
            </a:pPr>
            <a:r>
              <a:rPr sz="1350" b="1">
                <a:solidFill>
                  <a:srgbClr val="15213A"/>
                </a:solidFill>
              </a:rPr>
              <a:t>데이터의 지속 성장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A1036-FAFD-429E-A857-4E45A524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8D"/>
                </a:solidFill>
              </a:defRPr>
            </a:pPr>
            <a:r>
              <a:rPr sz="1050" b="0">
                <a:solidFill>
                  <a:srgbClr val="66748D"/>
                </a:solidFill>
              </a:rPr>
              <a:t>확정 견적이 다음 기준가격으로 축적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5E3F2-DA35-40FE-A223-D0BB93A4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87A"/>
                </a:solidFill>
              </a:defRPr>
            </a:pPr>
            <a:r>
              <a:rPr sz="1575" b="1">
                <a:solidFill>
                  <a:srgbClr val="00287A"/>
                </a:solidFill>
              </a:rPr>
              <a:t>시범운영에서 측정할 KPI</a:t>
            </a:r>
          </a:p>
        </p:txBody>
      </p:sp>
      <p:graphicFrame>
        <p:nvGraphicFramePr>
          <p:cNvPr id="48" name=""/>
          <p:cNvGraphicFramePr/>
          <p:nvPr/>
        </p:nvGraphicFramePr>
        <p:xfrm>
          <a:off xmlns:a="http://schemas.openxmlformats.org/drawingml/2006/main" x="6553200" y="2076450"/>
          <a:ext xmlns:a="http://schemas.openxmlformats.org/drawingml/2006/main" cx="50292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2057400"/>
                <a:gridCol w="1600200"/>
              </a:tblGrid>
              <a:tr h="400050">
                <a:tc>
                  <a:txBody>
                    <a:bodyPr/>
                    <a:lstStyle/>
                    <a:p>
                      <a:r>
                        <a:t>지표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측정 방법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목적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평균 검토시간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업로드→1차 판정 시간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업무시간 절감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목표가 산출률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목표가 표시 품목 ÷ 전체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데이터 활용 범위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협상 절감액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최초 견적−최종 합의가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직접 재무 효과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판정 수정률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담당자 수정 건 ÷ 자동 판정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기준 신뢰도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3DABB-DFAF-4A82-858D-E73307D9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29200"/>
            <a:ext cx="5029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44362-C1F6-4E13-A2E4-33547CFC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911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13A"/>
                </a:solidFill>
              </a:defRPr>
            </a:pPr>
            <a:r>
              <a:rPr sz="1275" b="1">
                <a:solidFill>
                  <a:srgbClr val="15213A"/>
                </a:solidFill>
              </a:rPr>
              <a:t>성과 수치는 아직 가정하지 않습니다.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07487-87CC-404B-80B9-86BDE60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959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8D"/>
                </a:solidFill>
              </a:defRPr>
            </a:pPr>
            <a:r>
              <a:rPr sz="1050" b="0">
                <a:solidFill>
                  <a:srgbClr val="66748D"/>
                </a:solidFill>
              </a:rPr>
              <a:t>실제 견적 시범운영으로 기준선을 먼저 측정합니다.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B3E97-143A-40D7-9535-375D771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C1C90-5B4B-4461-97DD-706D6BC0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3B73C-26B3-43F1-AFA6-04B80DC8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32583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87CD4-97B9-4D34-AFF5-DE75AC2C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10 · 결론과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9A090-27D1-4CFD-B1DE-FC24C42C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13A"/>
                </a:solidFill>
              </a:defRPr>
            </a:pPr>
            <a:r>
              <a:rPr sz="2550" b="1">
                <a:solidFill>
                  <a:srgbClr val="15213A"/>
                </a:solidFill>
              </a:rPr>
              <a:t>다음 단계는 추가 개발보다 10~20건 실견적 시범운영입니다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1B16A-13B9-4D61-A45B-C85B930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653F7-2700-4430-9B6D-19BE0ADE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87A"/>
                </a:solidFill>
              </a:defRPr>
            </a:pPr>
            <a:r>
              <a:rPr sz="1500" b="1">
                <a:solidFill>
                  <a:srgbClr val="00287A"/>
                </a:solidFill>
              </a:rPr>
              <a:t>현재 구현도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2076450"/>
          <a:ext xmlns:a="http://schemas.openxmlformats.org/drawingml/2006/main" cx="60960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1066800"/>
                <a:gridCol w="2895600"/>
              </a:tblGrid>
              <a:tr h="400050">
                <a:tc>
                  <a:txBody>
                    <a:bodyPr/>
                    <a:lstStyle/>
                    <a:p>
                      <a:r>
                        <a:t>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표준 DB·원본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A7A62"/>
                          </a:solidFill>
                        </a:rPr>
                        <a:t>완료</a:t>
                      </a:r>
                    </a:p>
                  </a:txBody>
                  <a:tcPr marL="91440" marR="91440" marT="45720" marB="45720">
                    <a:solidFill>
                      <a:srgbClr val="E4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로컬 운영 가능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신규 견적 적정성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A7A62"/>
                          </a:solidFill>
                        </a:rPr>
                        <a:t>완료</a:t>
                      </a:r>
                    </a:p>
                  </a:txBody>
                  <a:tcPr marL="91440" marR="91440" marT="45720" marB="45720">
                    <a:solidFill>
                      <a:srgbClr val="E4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임계값 조정 가능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물가연동 목표가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A7A62"/>
                          </a:solidFill>
                        </a:rPr>
                        <a:t>완료</a:t>
                      </a:r>
                    </a:p>
                  </a:txBody>
                  <a:tcPr marL="91440" marR="91440" marT="45720" marB="45720">
                    <a:solidFill>
                      <a:srgbClr val="E4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KOSIS 월별 지수 적용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시장가 조회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66A00"/>
                          </a:solidFill>
                        </a:rPr>
                        <a:t>보완</a:t>
                      </a:r>
                    </a:p>
                  </a:txBody>
                  <a:tcPr marL="91440" marR="91440" marT="45720" marB="45720">
                    <a:solidFill>
                      <a:srgbClr val="FF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DeviceMart·Mouser 성공률 개선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보안 원본 53개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66A00"/>
                          </a:solidFill>
                        </a:rPr>
                        <a:t>사내 작업</a:t>
                      </a:r>
                    </a:p>
                  </a:txBody>
                  <a:tcPr marL="91440" marR="91440" marT="45720" marB="45720">
                    <a:solidFill>
                      <a:srgbClr val="FF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보안해제본 재수집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5213A"/>
                          </a:solidFill>
                        </a:rPr>
                        <a:t>서버·권한 체계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287A"/>
                          </a:solidFill>
                        </a:rPr>
                        <a:t>다음 단계</a:t>
                      </a:r>
                    </a:p>
                  </a:txBody>
                  <a:tcPr marL="91440" marR="91440" marT="45720" marB="45720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파일럿 KPI 후 결정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5B9B6-E284-474E-B66B-4A44B57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76400"/>
            <a:ext cx="453390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06B1A-D064-48CB-88BD-0963FA8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E7C8"/>
                </a:solidFill>
              </a:defRPr>
            </a:pPr>
            <a:r>
              <a:rPr sz="1125" b="1">
                <a:solidFill>
                  <a:srgbClr val="6EE7C8"/>
                </a:solidFill>
              </a:rPr>
              <a:t>의사결정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D0F51-A724-4042-BA39-755C984E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95DD5-5976-40B1-8E75-BAD5451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287A"/>
                </a:solidFill>
              </a:defRPr>
            </a:pPr>
            <a:r>
              <a:rPr sz="1275" b="1">
                <a:solidFill>
                  <a:srgbClr val="00287A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AA725-2B01-4D9A-B252-F1637C44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설비구매팀 실견적 10~20건 시범운영 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C8CFE-0C9C-4A20-8337-47A991AB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0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9B4-0D93-448C-A5F0-DCC31BAC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0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287A"/>
                </a:solidFill>
              </a:defRPr>
            </a:pPr>
            <a:r>
              <a:rPr sz="1275" b="1">
                <a:solidFill>
                  <a:srgbClr val="00287A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EA677-9970-4EA6-AF04-6271E3BB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사내에서 보안해제 원본 53개 재수집 지원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EAE51-D39C-43F0-A61A-8588B9A0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19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C7804-16E2-4151-A08C-A96E8B1D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19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287A"/>
                </a:solidFill>
              </a:defRPr>
            </a:pPr>
            <a:r>
              <a:rPr sz="1275" b="1">
                <a:solidFill>
                  <a:srgbClr val="00287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D3D20-B493-4318-B97A-9A72D73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검토시간·목표가 산출률·절감액 측정 후 서버화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0D85A-7BC5-454B-8070-347500E3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CE"/>
                </a:solidFill>
              </a:defRPr>
            </a:pPr>
            <a:r>
              <a:rPr sz="900" b="1">
                <a:solidFill>
                  <a:srgbClr val="00A9CE"/>
                </a:solidFill>
              </a:rPr>
              <a:t>결론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BE659-4F45-4675-AF6A-7CE41832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13A"/>
                </a:solidFill>
              </a:defRPr>
            </a:pPr>
            <a:r>
              <a:rPr sz="1650" b="1">
                <a:solidFill>
                  <a:srgbClr val="15213A"/>
                </a:solidFill>
              </a:rPr>
              <a:t>과거 견적을 ‘보관 파일’에서 ‘협상 가능한 가격 자산’으로 전환했습니다.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4DD09-BCED-4FEF-A387-C4371C7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390BE-099B-4D5C-A0CC-B1EF29A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D"/>
                </a:solidFill>
              </a:defRPr>
            </a:pPr>
            <a:r>
              <a:rPr sz="750" b="0">
                <a:solidFill>
                  <a:srgbClr val="66748D"/>
                </a:solidFill>
              </a:rPr>
              <a:t>PRICE ANALYZER · 임원 보고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9481D-9392-43D2-9DF6-770F194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436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287A"/>
                </a:solidFill>
              </a:defRPr>
            </a:pPr>
            <a:r>
              <a:rPr sz="750" b="1">
                <a:solidFill>
                  <a:srgbClr val="0028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5778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2026-08-11T06:19:25.8310000Z</dcterms:created>
  <dcterms:modified xsi:type="dcterms:W3CDTF">2026-08-11T06:19:25.8310000Z</dcterms:modified>
</coreProperties>
</file>