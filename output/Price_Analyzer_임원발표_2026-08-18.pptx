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95b4aa3c514f98" /><Relationship Type="http://schemas.openxmlformats.org/officeDocument/2006/relationships/extended-properties" Target="/docProps/app.xml" Id="R04698b8dfbbe44aa" /><Relationship Type="http://schemas.openxmlformats.org/officeDocument/2006/relationships/officeDocument" Target="/ppt/presentation.xml" Id="R42e4ac680c5e48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1a4cdd3f1f454f"/>
  </p:sldMasterIdLst>
  <p:notesMasterIdLst>
    <p:notesMasterId xmlns:r="http://schemas.openxmlformats.org/officeDocument/2006/relationships" r:id="R65fde268ffb14c86"/>
  </p:notesMasterIdLst>
  <p:sldIdLst>
    <p:sldId xmlns:r="http://schemas.openxmlformats.org/officeDocument/2006/relationships" id="256" r:id="Rc1b47d1c6246459e"/>
    <p:sldId xmlns:r="http://schemas.openxmlformats.org/officeDocument/2006/relationships" id="257" r:id="R33fb74ef4e2f4f0a"/>
    <p:sldId xmlns:r="http://schemas.openxmlformats.org/officeDocument/2006/relationships" id="258" r:id="R02d8874da6cf48b2"/>
    <p:sldId xmlns:r="http://schemas.openxmlformats.org/officeDocument/2006/relationships" id="259" r:id="Rd46c84e5cbf44fff"/>
    <p:sldId xmlns:r="http://schemas.openxmlformats.org/officeDocument/2006/relationships" id="260" r:id="R1619f5c6730d4bba"/>
    <p:sldId xmlns:r="http://schemas.openxmlformats.org/officeDocument/2006/relationships" id="261" r:id="R22b12789767f4a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b66773a29e4b81" /><Relationship Type="http://schemas.openxmlformats.org/officeDocument/2006/relationships/slideMaster" Target="/ppt/slideMasters/slideMaster1.xml" Id="R7e1a4cdd3f1f454f" /><Relationship Type="http://schemas.openxmlformats.org/officeDocument/2006/relationships/notesMaster" Target="/ppt/notesMasters/notesMaster1.xml" Id="R65fde268ffb14c86" /><Relationship Type="http://schemas.openxmlformats.org/officeDocument/2006/relationships/presProps" Target="/ppt/presProps.xml" Id="Ra40d18235d81484c" /><Relationship Type="http://schemas.openxmlformats.org/officeDocument/2006/relationships/tableStyles" Target="/ppt/tableStyles.xml" Id="R220e690b4fd14120" /><Relationship Type="http://schemas.openxmlformats.org/officeDocument/2006/relationships/slide" Target="/ppt/slides/slide1.xml" Id="Rc1b47d1c6246459e" /><Relationship Type="http://schemas.openxmlformats.org/officeDocument/2006/relationships/slide" Target="/ppt/slides/slide2.xml" Id="R33fb74ef4e2f4f0a" /><Relationship Type="http://schemas.openxmlformats.org/officeDocument/2006/relationships/slide" Target="/ppt/slides/slide3.xml" Id="R02d8874da6cf48b2" /><Relationship Type="http://schemas.openxmlformats.org/officeDocument/2006/relationships/slide" Target="/ppt/slides/slide4.xml" Id="Rd46c84e5cbf44fff" /><Relationship Type="http://schemas.openxmlformats.org/officeDocument/2006/relationships/slide" Target="/ppt/slides/slide5.xml" Id="R1619f5c6730d4bba" /><Relationship Type="http://schemas.openxmlformats.org/officeDocument/2006/relationships/slide" Target="/ppt/slides/slide6.xml" Id="R22b12789767f4a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3775cf4f8948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d8938e243a4a7e" /><Relationship Type="http://schemas.openxmlformats.org/officeDocument/2006/relationships/notesMaster" Target="/ppt/notesMasters/notesMaster1.xml" Id="R9493dcaf3f9546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82f73ba8b94952" /><Relationship Type="http://schemas.openxmlformats.org/officeDocument/2006/relationships/notesMaster" Target="/ppt/notesMasters/notesMaster1.xml" Id="R20c131dedf3145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78527ccf584184" /><Relationship Type="http://schemas.openxmlformats.org/officeDocument/2006/relationships/notesMaster" Target="/ppt/notesMasters/notesMaster1.xml" Id="Raf1e12e6e3064a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7b4dc5353346ea" /><Relationship Type="http://schemas.openxmlformats.org/officeDocument/2006/relationships/notesMaster" Target="/ppt/notesMasters/notesMaster1.xml" Id="R441c6d671f8041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5cea659ac248a7" /><Relationship Type="http://schemas.openxmlformats.org/officeDocument/2006/relationships/notesMaster" Target="/ppt/notesMasters/notesMaster1.xml" Id="Ra335ffe0d98647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fc87c9cd3e47c9" /><Relationship Type="http://schemas.openxmlformats.org/officeDocument/2006/relationships/notesMaster" Target="/ppt/notesMasters/notesMaster1.xml" Id="Re62d6baca0034f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프로젝트의 목적은 견적을 자동 승인하는 것이 아닙니다.</a:t>
            </a:r>
          </a:p>
          <a:p xmlns:a="http://schemas.openxmlformats.org/drawingml/2006/main">
            <a:r>
              <a:t>구매 담당자가 협력사와 협상할 때 어떤 품목부터 얼마를 낮춰야 하는지 근거를 제공하는 것이 핵심입니다.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workflow, Price Analyzer, 2026-08-18.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임원 관점에서 필요한 답은 두 가지입니다. 제시가격이 적정한지, 그리고 실제로 얼마를 더 낮출 수 있는지입니다.</a:t>
            </a:r>
          </a:p>
          <a:p xmlns:a="http://schemas.openxmlformats.org/drawingml/2006/main">
            <a:r>
              <a:t>시스템은 추정치를 억지로 채우지 않고, 근거가 부족한 품목은 판정 대기로 분리합니다.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workflow, Price Analyzer, 2026-08-18.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사용자는 견적서를 올리는 것만으로 표준 DB 비교부터 시장가 보완, 판정까지 한 화면에서 확인합니다.</a:t>
            </a:r>
          </a:p>
          <a:p xmlns:a="http://schemas.openxmlformats.org/drawingml/2006/main">
            <a:r>
              <a:t>시장가는 표준 DB가 없는 경우에만 조회하고, 모델·포장·재고 조건이 맞지 않으면 참고 링크로만 남깁니다.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Price Analyzer screenshot, light mode, captured 2026-08-18: output/playwright/01-price-suitability.png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협상 목표가는 평균적인 적정가격이 아니라 구매팀이 협상을 시작할 때 제시할 공격적인 기준입니다.</a:t>
            </a:r>
          </a:p>
          <a:p xmlns:a="http://schemas.openxmlformats.org/drawingml/2006/main">
            <a:r>
              <a:t>먼저 같은 품명·규격·단위의 독립 원본만 고르고, 각 과거 단가를 해당 견적연도 이후의 확정 소비자물가로 현재화합니다.</a:t>
            </a:r>
          </a:p>
          <a:p xmlns:a="http://schemas.openxmlformats.org/drawingml/2006/main">
            <a:r>
              <a:t>그중 가장 낮은 값을 협상 목표 단가로 사용합니다. 현재 제시가가 이미 더 낮으면 네고 가능금액은 0원으로 처리해 다른 품목의 협상 여력을 상쇄하지 않습니다.</a:t>
            </a:r>
          </a:p>
          <a:p xmlns:a="http://schemas.openxmlformats.org/drawingml/2006/main">
            <a:r>
              <a:t>원본 날짜나 규격이 부족하면 값을 추정하지 않고 판정 대기로 남깁니다.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KOSIS Consumer Price Index annual change, all-items index, DT_1J22041: https://kosis.kr/statHtml/statHtml.do?orgId=101&amp;tblId=DT_1J22041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시스템의 값이 완벽하게 정합할 수 없는 가장 큰 이유는 원본 견적 자체의 형식과 기재 수준이 서로 다르기 때문입니다.</a:t>
            </a:r>
          </a:p>
          <a:p xmlns:a="http://schemas.openxmlformats.org/drawingml/2006/main">
            <a:r>
              <a:t>따라서 자동 계산 범위를 억지로 늘리기보다, 근거가 불충분한 값은 대기시키고 원본 위치까지 보여주는 방식으로 설계했습니다.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Price Analyzer screenshot, light mode, captured 2026-08-18: output/playwright/05-source-trace.png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결론적으로 이 시스템은 최종 구매 결정을 대신하지 않습니다.</a:t>
            </a:r>
          </a:p>
          <a:p xmlns:a="http://schemas.openxmlformats.org/drawingml/2006/main">
            <a:r>
              <a:t>대신 견적 검토의 출발점을 통일하고, 협상해야 할 품목과 금액을 빠르게 제시합니다.</a:t>
            </a:r>
          </a:p>
          <a:p xmlns:a="http://schemas.openxmlformats.org/drawingml/2006/main">
            <a:r>
              <a:t>다음 단계는 실제 설비구매팀 시범 운영을 통해 검토 결과를 축적하고, 표준 DB의 신뢰도를 높이는 것입니다.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workflow, Price Analyzer, 2026-08-18.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2ccf9c2274b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28b046ad644296" /><Relationship Type="http://schemas.openxmlformats.org/officeDocument/2006/relationships/slideLayout" Target="/ppt/slideLayouts/slideLayout1.xml" Id="R804e2bdb3daf40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4e2bdb3daf40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f0d775cc14933" /><Relationship Type="http://schemas.openxmlformats.org/officeDocument/2006/relationships/notesSlide" Target="/ppt/notesSlides/notesSlide1.xml" Id="R6a31563afbc04c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82238b1cd4d93" /><Relationship Type="http://schemas.openxmlformats.org/officeDocument/2006/relationships/notesSlide" Target="/ppt/notesSlides/notesSlide2.xml" Id="R649e87ad536246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ff83eea6240a4" /><Relationship Type="http://schemas.openxmlformats.org/officeDocument/2006/relationships/image" Target="/ppt/media/image.png" Id="R23f59c8b5d4b4275" /><Relationship Type="http://schemas.openxmlformats.org/officeDocument/2006/relationships/notesSlide" Target="/ppt/notesSlides/notesSlide3.xml" Id="Ra3011e71118b4a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f7a96be854f03" /><Relationship Type="http://schemas.openxmlformats.org/officeDocument/2006/relationships/notesSlide" Target="/ppt/notesSlides/notesSlide4.xml" Id="R20599a0ed41148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91004e6774446" /><Relationship Type="http://schemas.openxmlformats.org/officeDocument/2006/relationships/image" Target="/ppt/media/image2.png" Id="R6e04e2d07be742bf" /><Relationship Type="http://schemas.openxmlformats.org/officeDocument/2006/relationships/notesSlide" Target="/ppt/notesSlides/notesSlide5.xml" Id="R0eacd8f785444b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1b1a13a594ac2" /><Relationship Type="http://schemas.openxmlformats.org/officeDocument/2006/relationships/notesSlide" Target="/ppt/notesSlides/notesSlide6.xml" Id="R3268627b8f8f42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15045-5D95-4EE8-9C89-7E1CA167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7FE28-F6DD-413D-AAB1-1CE0977B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87A"/>
                </a:solidFill>
              </a:defRPr>
            </a:pPr>
            <a:r>
              <a:rPr sz="1200" b="1">
                <a:solidFill>
                  <a:srgbClr val="00287A"/>
                </a:solidFill>
              </a:rPr>
              <a:t>PRICE / ANALYZER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B473D-2BBA-480C-8380-ED2CBA2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828"/>
                </a:solidFill>
              </a:defRPr>
            </a:pPr>
            <a:r>
              <a:rPr sz="4200" b="1">
                <a:solidFill>
                  <a:srgbClr val="101828"/>
                </a:solidFill>
              </a:rPr>
              <a:t>견적 검토를</a:t>
            </a:r>
          </a:p>
          <a:p xmlns:a="http://schemas.openxmlformats.org/drawingml/2006/main">
            <a:pPr algn="l">
              <a:defRPr sz="4200" b="1">
                <a:solidFill>
                  <a:srgbClr val="101828"/>
                </a:solidFill>
              </a:defRPr>
            </a:pPr>
            <a:r>
              <a:rPr sz="4200" b="1">
                <a:solidFill>
                  <a:srgbClr val="101828"/>
                </a:solidFill>
              </a:rPr>
              <a:t>경험에서 근거로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61DFF-0D2A-475C-8300-7F9327BB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44054"/>
                </a:solidFill>
              </a:defRPr>
            </a:pPr>
            <a:r>
              <a:rPr sz="1800" b="0">
                <a:solidFill>
                  <a:srgbClr val="344054"/>
                </a:solidFill>
              </a:rPr>
              <a:t>협력사 견적의 적정성을 확인하고,</a:t>
            </a:r>
          </a:p>
          <a:p xmlns:a="http://schemas.openxmlformats.org/drawingml/2006/main">
            <a:pPr algn="l">
              <a:defRPr sz="1800" b="0">
                <a:solidFill>
                  <a:srgbClr val="344054"/>
                </a:solidFill>
              </a:defRPr>
            </a:pPr>
            <a:r>
              <a:rPr sz="1800" b="0">
                <a:solidFill>
                  <a:srgbClr val="344054"/>
                </a:solidFill>
              </a:rPr>
              <a:t>품목별 협상 목표와 전체 네고 가능금액을 제시합니다.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58FDF-FBCF-49D7-A5D7-413B0647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19200"/>
            <a:ext cx="24765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39510-0CF8-4803-8569-97CAC5C3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287A"/>
                </a:solidFill>
              </a:defRPr>
            </a:pPr>
            <a:r>
              <a:rPr sz="4350" b="1">
                <a:solidFill>
                  <a:srgbClr val="00287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63F48-0C1B-4173-B837-262FD9F9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90B6C-0429-4110-B306-B6410EDE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43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과거 견적 근거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0C550-BB72-4D98-AABB-40EB388A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00287A"/>
                </a:solidFill>
              </a:defRPr>
            </a:pPr>
            <a:r>
              <a:rPr sz="2700" b="0">
                <a:solidFill>
                  <a:srgbClr val="00287A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BC47F-2A1E-47D5-9E68-A5FE7742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시장가 보완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7064D-425C-4548-919C-9E603313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임원 보고용 · 2026.08</a:t>
            </a:r>
          </a:p>
        </p:txBody>
      </p:sp>
    </p:spTree>
    <p:extLst>
      <p:ext uri="{BB962C8B-B14F-4D97-AF65-F5344CB8AC3E}">
        <p14:creationId xmlns:p14="http://schemas.microsoft.com/office/powerpoint/2010/main" val="1535582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9E303-4276-437F-BAFE-3E45A57F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87A"/>
                </a:solidFill>
              </a:defRPr>
            </a:pPr>
            <a:r>
              <a:rPr sz="1050" b="1">
                <a:solidFill>
                  <a:srgbClr val="00287A"/>
                </a:solidFill>
              </a:rPr>
              <a:t>PROJECT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0635E-4052-4281-80A2-1F98477D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신규 견적 한 건을 두 가지 질문으로 분해합니다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1C271-F8E6-40FE-A3FE-96BC1383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77BA1-DD63-47C0-841D-063EF5AF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22086-B975-4CAA-9DD3-5407CA58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PRICE / ANALYZER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6E473-B50D-4D62-9E74-B484763F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5B505-4D48-4A5E-BD77-072D411D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25215-BECB-4C9B-A668-275540A9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A3BD2-388D-4849-B910-D158DA85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이 가격은 적정한가?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87A8F-468B-4EDA-9BE6-59F5903A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193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과거 견적의 최저·중앙값·최고와 비교해</a:t>
            </a:r>
          </a:p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고가·주의·적정·저가를 같은 기준으로 판단합니다.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F5DAF-2D66-44CA-80E1-5A1071C1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70BB7-EBF6-422F-BD32-03E5B0DE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FA401-54B2-439C-9BB6-79D1FA26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B0771-3F4D-4CF2-B829-93692D04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얼마까지 협상할 수 있는가?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500C0-4D11-4F3D-8E0B-1B8E1E87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193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검증된 독립 원본의 과거 최저가를 현재 가치로 환산해</a:t>
            </a:r>
          </a:p>
          <a:p xmlns:a="http://schemas.openxmlformats.org/drawingml/2006/main">
            <a:pPr algn="l">
              <a:defRPr sz="1500" b="0">
                <a:solidFill>
                  <a:srgbClr val="344054"/>
                </a:solidFill>
              </a:defRPr>
            </a:pPr>
            <a:r>
              <a:rPr sz="1500" b="0">
                <a:solidFill>
                  <a:srgbClr val="344054"/>
                </a:solidFill>
              </a:rPr>
              <a:t>품목별 협상 목표와 전체 네고 가능금액을 합산합니다.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FFE1E-AE7C-43BB-96C8-5F38FCAB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8204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90351-0CFB-4740-B424-C2804163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87A"/>
                </a:solidFill>
              </a:defRPr>
            </a:pPr>
            <a:r>
              <a:rPr sz="1500" b="1">
                <a:solidFill>
                  <a:srgbClr val="00287A"/>
                </a:solidFill>
              </a:rPr>
              <a:t>핵심 원칙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18664-ECF9-4676-8E4B-0A93FEE6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767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기준이 없으면 가격을 만들지 않습니다.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AA807-02EA-4592-B223-6598D71A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720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054"/>
                </a:solidFill>
              </a:defRPr>
            </a:pPr>
            <a:r>
              <a:rPr sz="1425" b="0">
                <a:solidFill>
                  <a:srgbClr val="344054"/>
                </a:solidFill>
              </a:rPr>
              <a:t>판정 대기로 남기고 원본·시장가·담당자 검토로 연결합니다.</a:t>
            </a:r>
          </a:p>
        </p:txBody>
      </p:sp>
    </p:spTree>
    <p:extLst>
      <p:ext uri="{BB962C8B-B14F-4D97-AF65-F5344CB8AC3E}">
        <p14:creationId xmlns:p14="http://schemas.microsoft.com/office/powerpoint/2010/main" val="344987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584409-4D53-455C-BD91-92F6A8A5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87A"/>
                </a:solidFill>
              </a:defRPr>
            </a:pPr>
            <a:r>
              <a:rPr sz="1050" b="1">
                <a:solidFill>
                  <a:srgbClr val="00287A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B8F33-2817-4B35-935E-876D8A7C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과거 견적이 기준이 되고, 없는 품목만 시장가로 보완합니다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9288A-A4B7-410C-AAFF-072BCA43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ECA61-5C78-4330-AF17-4172CFB1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A8FC9-01B5-4E53-A76A-3C238777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PRICE / ANALYZER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7F016-2968-4502-89E0-EAE6186C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A932D-D1F4-4A2F-8BF7-F8924E28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960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0FC40-D6D7-4428-B061-611D3833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8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5A5D6-01E4-402A-B3AB-3AA4BB9E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87A"/>
                </a:solidFill>
              </a:defRPr>
            </a:pPr>
            <a:r>
              <a:rPr sz="1500" b="1">
                <a:solidFill>
                  <a:srgbClr val="00287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47746-5ADD-43D6-AE71-CE0F8E5F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견적서 접수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CE510-6CD1-4EEF-A6CA-ACC30140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엑셀·PDF 업로드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2DFC8-AE6B-43B5-828F-2941E80F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38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8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633FF-6A93-4A4B-927B-03F8FFE4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383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87A"/>
                </a:solidFill>
              </a:defRPr>
            </a:pPr>
            <a:r>
              <a:rPr sz="1500" b="1">
                <a:solidFill>
                  <a:srgbClr val="00287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A1E5D-C088-4E12-94DE-60E89C0D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43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표준 DB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74B87-578B-4616-A422-8D1A1801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86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과거 동일 품목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73005-ECCD-417A-9CA3-1F284E6B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38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8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E4089-8CF6-4A7F-932D-F75E15BF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383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87A"/>
                </a:solidFill>
              </a:defRPr>
            </a:pPr>
            <a:r>
              <a:rPr sz="1500" b="1">
                <a:solidFill>
                  <a:srgbClr val="00287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125B6-50AA-4AA4-955E-795DB9F6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43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시장가 보완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19C07-E498-468C-9730-3F22713D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정확한 모델만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09154-C82A-4F1B-980B-1E42ED81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38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87A"/>
          </a:solidFill>
          <a:ln xmlns:a="http://schemas.openxmlformats.org/drawingml/2006/main" w="19050">
            <a:solidFill>
              <a:srgbClr val="0028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A53BA-EC60-4EB8-810D-54E86D2A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383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D94B7-73F0-4FB0-BCFC-9382B867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판정·목표가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16F77-4DA0-474E-BB09-24A4AC90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네고 가능금액 합산</a:t>
            </a:r>
          </a:p>
        </p:txBody>
      </p:sp>
      <p:sp>
        <p:nvSpPr>
          <p:cNvPr id="24" name="analysis-screenshot-frame">
            <a:extLst xmlns:a="http://schemas.openxmlformats.org/drawingml/2006/main">
              <a:ext uri="{FF2B5EF4-FFF2-40B4-BE49-F238E27FC236}">
                <a16:creationId xmlns:a16="http://schemas.microsoft.com/office/drawing/2014/main" id="{6E066B20-CA89-4358-B352-49CC8BA4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1816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59c8b5d4b42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181350"/>
            <a:ext cx="502920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DA2268-0981-4D1F-AB98-666AAE86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95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87A"/>
                </a:solidFill>
              </a:defRPr>
            </a:pPr>
            <a:r>
              <a:rPr sz="1500" b="1">
                <a:solidFill>
                  <a:srgbClr val="00287A"/>
                </a:solidFill>
              </a:rPr>
              <a:t>한 번의 업로드로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72B779-F834-4D88-9C56-C303A82D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표준 DB를 우선 비교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EFC85E-0F53-4857-ABC7-E923F250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577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근거가 없으면 판정 대기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7D69CE-F37D-4134-9D56-99C3DC64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673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정확한 모델만 시장가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77370F-B26B-4FEF-9804-DFA84CD6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53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한 번의 견적서 업로드로 처리</a:t>
            </a:r>
          </a:p>
        </p:txBody>
      </p:sp>
    </p:spTree>
    <p:extLst>
      <p:ext uri="{BB962C8B-B14F-4D97-AF65-F5344CB8AC3E}">
        <p14:creationId xmlns:p14="http://schemas.microsoft.com/office/powerpoint/2010/main" val="659300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C036E5-CA2D-4112-B61D-D9D1EB24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87A"/>
                </a:solidFill>
              </a:defRPr>
            </a:pPr>
            <a:r>
              <a:rPr sz="1050" b="1">
                <a:solidFill>
                  <a:srgbClr val="00287A"/>
                </a:solidFill>
              </a:rPr>
              <a:t>NEGOTIATION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E4A40-05EE-416D-AE3B-E35663B1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협상 목표가는 과거 최저 구매가를 오늘 가치로 환산합니다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F0436-AFF6-459B-92ED-C10B0B9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21A57-520B-4E44-A5AF-5BF6D50C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5DED9-5AEB-4F67-AE48-F74790DF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PRICE / ANALYZER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99404-9EAB-4A51-90AF-3781712C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D01B7-6C92-49C2-A475-90357B65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52450" cy="552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2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ADEC3-7533-4C45-BDC8-A2025868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287A"/>
                </a:solidFill>
              </a:defRPr>
            </a:pPr>
            <a:r>
              <a:rPr sz="1275" b="1">
                <a:solidFill>
                  <a:srgbClr val="0028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D07D9-D8A4-4366-B65D-AB085AE8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비교 가능한 원본만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A4B1F-F194-431A-9BF1-09C9BAAF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16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같은 품명·규격·단위의 독립 견적만 사용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복사본과 중복 행은 한 번만 계산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DBFE0-0C24-44F2-960A-A7638701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4310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468F0-F055-45EE-BD3B-33981A6D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552450" cy="552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28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28846-3E19-417B-B38A-38E2CA59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14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287A"/>
                </a:solidFill>
              </a:defRPr>
            </a:pPr>
            <a:r>
              <a:rPr sz="1275" b="1">
                <a:solidFill>
                  <a:srgbClr val="00287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A788E-F9B9-497A-9014-936566E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현재 가치로 환산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77FCF-4BA2-4B0F-A8B0-3349353E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9900"/>
            <a:ext cx="316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견적연도 다음 해부터 최근 확정연도까지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소비자물가 총지수 등락률을 복리 적용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0098F-5801-4F03-9ACC-3ED913E6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4310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BBE9C-D947-4503-A169-0F3C0968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87A"/>
          </a:solidFill>
          <a:ln xmlns:a="http://schemas.openxmlformats.org/drawingml/2006/main" w="19050">
            <a:solidFill>
              <a:srgbClr val="0028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96D1D-FCA5-4A6B-AB4B-513328E8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14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460BA-A59E-4C68-A1F8-A145EF7E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최저값을 협상 기준으로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B2B55-8E63-425B-A56A-EA88F08D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316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보정된 과거 실구매가 중 최저값 채택</a:t>
            </a:r>
          </a:p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현재 제시가가 더 낮으면 네고 0원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6D7CDE-B2A9-41F9-A054-4DB31AC9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820400" cy="125730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F3E21-A2D4-4044-A4D3-3AAA6BCA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287A"/>
                </a:solidFill>
              </a:defRPr>
            </a:pPr>
            <a:r>
              <a:rPr sz="1575" b="1">
                <a:solidFill>
                  <a:srgbClr val="00287A"/>
                </a:solidFill>
              </a:rPr>
              <a:t>과거 최저 실구매 단가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34B74-E452-4F24-BCF4-2CDE385C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287A"/>
                </a:solidFill>
              </a:defRPr>
            </a:pPr>
            <a:r>
              <a:rPr sz="2100" b="1">
                <a:solidFill>
                  <a:srgbClr val="00287A"/>
                </a:solidFill>
              </a:rPr>
              <a:t>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1FC7B-3D1C-441A-9BF7-466120BC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43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287A"/>
                </a:solidFill>
              </a:defRPr>
            </a:pPr>
            <a:r>
              <a:rPr sz="1575" b="1">
                <a:solidFill>
                  <a:srgbClr val="00287A"/>
                </a:solidFill>
              </a:rPr>
              <a:t>누적 소비자물가계수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EA0B8D-5FC6-4562-900E-19611060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287A"/>
                </a:solidFill>
              </a:defRPr>
            </a:pPr>
            <a:r>
              <a:rPr sz="2100" b="1">
                <a:solidFill>
                  <a:srgbClr val="00287A"/>
                </a:solidFill>
              </a:rPr>
              <a:t>=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20D68-F34C-4632-A939-12F9A55F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43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C7A"/>
                </a:solidFill>
              </a:defRPr>
            </a:pPr>
            <a:r>
              <a:rPr sz="1800" b="1">
                <a:solidFill>
                  <a:srgbClr val="008C7A"/>
                </a:solidFill>
              </a:rPr>
              <a:t>협상 목표 단가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323BB-539B-4A2F-8D9F-949D7B03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969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제시 단가 − 협상 목표 단가 = 품목별 네고 가능금액 · 양수인 금액만 전체 견적에서 합산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12B412-D4B8-4AEB-B7CC-BE574F20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2318"/>
                </a:solidFill>
              </a:defRPr>
            </a:pPr>
            <a:r>
              <a:rPr sz="1425" b="1">
                <a:solidFill>
                  <a:srgbClr val="B42318"/>
                </a:solidFill>
              </a:rPr>
              <a:t>기준이 없거나 원본 날짜·규격이 불명확하면 목표가를 만들지 않고 판정 대기로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182672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572B9-5E4B-41E9-8164-5C5D7FF1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87A"/>
                </a:solidFill>
              </a:defRPr>
            </a:pPr>
            <a:r>
              <a:rPr sz="1050" b="1">
                <a:solidFill>
                  <a:srgbClr val="00287A"/>
                </a:solidFill>
              </a:rPr>
              <a:t>TRUST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B1B33-D74A-4B6C-A1E7-A6E9C6DC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신뢰할 수 없는 값은 계산하지 않고 원본으로 되돌아갑니다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8A16D-35E6-4F19-8AB6-0C22FC05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83A9C-AD9A-43D5-96A4-D125C204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E8547-3B82-45A6-96A0-C3452AD5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PRICE / ANALYZER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26163-0447-4EB5-B826-80531777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7" name="source-trace-screenshot-frame">
            <a:extLst xmlns:a="http://schemas.openxmlformats.org/drawingml/2006/main">
              <a:ext uri="{FF2B5EF4-FFF2-40B4-BE49-F238E27FC236}">
                <a16:creationId xmlns:a16="http://schemas.microsoft.com/office/drawing/2014/main" id="{24E330DC-E8FD-49AC-9394-A9F4CD05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65913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4e2d07be742bf"/>
          <a:srcRect xmlns:a="http://schemas.openxmlformats.org/drawingml/2006/main" l="0" t="59" r="0" b="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52600"/>
            <a:ext cx="6438900" cy="4019550"/>
          </a:xfrm>
          <a:prstGeom xmlns:a="http://schemas.openxmlformats.org/drawingml/2006/main" prst="roundRect">
            <a:avLst>
              <a:gd name="adj" fmla="val 189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4D20D-A951-47FD-9576-EE36C840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52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87A"/>
                </a:solidFill>
              </a:defRPr>
            </a:pPr>
            <a:r>
              <a:rPr sz="1650" b="1">
                <a:solidFill>
                  <a:srgbClr val="00287A"/>
                </a:solidFill>
              </a:rPr>
              <a:t>신뢰 장치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EF71C-0AA1-4265-9EFA-A37D6818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87A"/>
                </a:solidFill>
              </a:defRPr>
            </a:pPr>
            <a:r>
              <a:rPr sz="1125" b="1">
                <a:solidFill>
                  <a:srgbClr val="00287A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E179C-8453-4B6C-AD8C-07120F7A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독립 원본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DAE4D-0CAB-49D2-913E-A1B7C968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복사본·중복 행은 한 근거로 계산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18ACB-A5A0-4D20-A342-09D6186E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004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87A"/>
                </a:solidFill>
              </a:defRPr>
            </a:pPr>
            <a:r>
              <a:rPr sz="1125" b="1">
                <a:solidFill>
                  <a:srgbClr val="00287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D37D8-3C92-42FC-ACD8-9998E795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원본까지 역추적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014B9-A93D-4907-A6B1-5EF2F0DE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파일·시트·행을 바로 열어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7A5C8-CDA4-4AF2-9E31-95B9EC4B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338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87A"/>
                </a:solidFill>
              </a:defRPr>
            </a:pPr>
            <a:r>
              <a:rPr sz="1125" b="1">
                <a:solidFill>
                  <a:srgbClr val="0028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2464D-A175-4360-8D85-17E6583B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근거 부족은 대기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CE43D-6D95-483C-8784-8529F988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3865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낮은 신뢰도를 가격으로 포장하지 않음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9D699-701B-405A-A5AD-9C878DCF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625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C2BDD-D992-4ABB-BB7D-5AAD05F5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14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현재 한계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ED792-817E-42F3-AE11-DC70C5A7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0070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표준 DB의 규격·견적일·제출사 정보가 부족한 품목은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목표가를 산정하지 못합니다. 최종 판단은 구매 담당자가 합니다.</a:t>
            </a:r>
          </a:p>
        </p:txBody>
      </p:sp>
    </p:spTree>
    <p:extLst>
      <p:ext uri="{BB962C8B-B14F-4D97-AF65-F5344CB8AC3E}">
        <p14:creationId xmlns:p14="http://schemas.microsoft.com/office/powerpoint/2010/main" val="785811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9419A-3B7F-496F-9BC5-849A5C0C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287A"/>
                </a:solidFill>
              </a:defRPr>
            </a:pPr>
            <a:r>
              <a:rPr sz="1050" b="1">
                <a:solidFill>
                  <a:srgbClr val="00287A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EE867-D564-4BA9-B854-CA9AF8DA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자동 승인보다 ‘협상 우선순위’를 먼저 제공합니다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EFF4A-929A-4368-BA3C-A545CE98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6805A-D6D5-419F-B8FE-1C3CBFB7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385B4-E9DB-4686-8524-0CE65B79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287A"/>
                </a:solidFill>
              </a:defRPr>
            </a:pPr>
            <a:r>
              <a:rPr sz="900" b="1">
                <a:solidFill>
                  <a:srgbClr val="00287A"/>
                </a:solidFill>
              </a:rPr>
              <a:t>PRICE / ANALYZER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A617E-7F11-4A38-A7A6-6CB6F37A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A8966-178D-4B02-81A8-ED3C7B29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028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9BFF7-919C-4A3E-9180-B58FB746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021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구매 담당자는 어디서 얼마를 낮출지 보고, 임원은 전체 견적의 협상 여력을 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7CAFD-1E0A-44D6-8045-F1E4FBF7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87A"/>
                </a:solidFill>
              </a:defRPr>
            </a:pPr>
            <a:r>
              <a:rPr sz="1125" b="1">
                <a:solidFill>
                  <a:srgbClr val="00287A"/>
                </a:solidFill>
              </a:rPr>
              <a:t>바로 활용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26B1E-9A20-4123-AA89-BECB6BE0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신규 견적 접수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35E8F-EA8A-4ADB-95BE-3A9BB230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품목별 고가·주의·적정 확인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협상 대상 품목 우선순위 설정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40AAB-31D4-4D45-8233-78359CA6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DFEA"/>
                </a:solidFill>
              </a:defRPr>
            </a:pPr>
            <a:r>
              <a:rPr sz="1800" b="1">
                <a:solidFill>
                  <a:srgbClr val="D7DFEA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CB004-0D72-410A-91CA-15D7C248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194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457B0-1929-44C1-BD53-80349C3D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87A"/>
                </a:solidFill>
              </a:defRPr>
            </a:pPr>
            <a:r>
              <a:rPr sz="1125" b="1">
                <a:solidFill>
                  <a:srgbClr val="00287A"/>
                </a:solidFill>
              </a:rPr>
              <a:t>다음 고도화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CEB8E-B4CB-4393-A2F9-6A88047F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43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데이터 신뢰도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F4422-2AE5-493C-8275-7BE508B1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규격·제출사·견적일 보완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구매 검토 결과를 표준 DB에 축적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EF8EE-F341-4E8C-9CED-A99DE3E8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578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DFEA"/>
                </a:solidFill>
              </a:defRPr>
            </a:pPr>
            <a:r>
              <a:rPr sz="1800" b="1">
                <a:solidFill>
                  <a:srgbClr val="D7DFEA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3EB04-18F8-4C76-9715-D26BE8C5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D3BB4-ED7C-4AF6-9C6F-5AE1C7A0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87A"/>
                </a:solidFill>
              </a:defRPr>
            </a:pPr>
            <a:r>
              <a:rPr sz="1125" b="1">
                <a:solidFill>
                  <a:srgbClr val="00287A"/>
                </a:solidFill>
              </a:rPr>
              <a:t>확장 방향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83866E-AF60-416B-A2AF-A6C3BFB3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시장가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17077-0024-431D-ACB7-5672B340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정확한 모델 중심 출처 확대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사내망 환경에서 실조회 안정화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FFDA5-A3B9-4430-BA50-6A756BF5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578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DFEA"/>
                </a:solidFill>
              </a:defRPr>
            </a:pPr>
            <a:r>
              <a:rPr sz="1800" b="1">
                <a:solidFill>
                  <a:srgbClr val="D7DFEA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FFAD8-DE81-4EA6-8893-5D43E3BD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287A"/>
                </a:solidFill>
              </a:defRPr>
            </a:pPr>
            <a:r>
              <a:rPr sz="1425" b="1">
                <a:solidFill>
                  <a:srgbClr val="00287A"/>
                </a:solidFill>
              </a:rPr>
              <a:t>현재 단계: 실무 시연이 가능한 구매 의사결정 지원 프로토타입</a:t>
            </a:r>
          </a:p>
        </p:txBody>
      </p:sp>
    </p:spTree>
    <p:extLst>
      <p:ext uri="{BB962C8B-B14F-4D97-AF65-F5344CB8AC3E}">
        <p14:creationId xmlns:p14="http://schemas.microsoft.com/office/powerpoint/2010/main" val="15488338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2026-08-17T16:06:28.4640000Z</dcterms:created>
  <dcterms:modified xsi:type="dcterms:W3CDTF">2026-08-17T16:06:28.4640000Z</dcterms:modified>
</coreProperties>
</file>